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B2B"/>
        </a:solidFill>
        <a:effectLst/>
      </p:bgPr>
    </p:bg>
    <p:spTree>
      <p:nvGrpSpPr>
        <p:cNvPr id="1" name=""/>
        <p:cNvGrpSpPr/>
        <p:nvPr/>
      </p:nvGrpSpPr>
      <p:grpSpPr/>
      <p:sp>
        <p:nvSpPr>
          <p:cNvPr id="2" name="TextBox 1"/>
          <p:cNvSpPr txBox="1"/>
          <p:nvPr/>
        </p:nvSpPr>
        <p:spPr>
          <a:xfrm>
            <a:off x="566928" y="685800"/>
            <a:ext cx="10515600" cy="1371600"/>
          </a:xfrm>
          <a:prstGeom prst="rect">
            <a:avLst/>
          </a:prstGeom>
          <a:noFill/>
        </p:spPr>
        <p:txBody>
          <a:bodyPr wrap="square" lIns="0" rIns="0" tIns="0" bIns="0" anchor="t">
            <a:spAutoFit/>
          </a:bodyPr>
          <a:lstStyle/>
          <a:p>
            <a:pPr algn="l">
              <a:spcAft>
                <a:spcPts val="100"/>
              </a:spcAft>
            </a:pPr>
            <a:r>
              <a:rPr sz="3000" b="1" i="0">
                <a:solidFill>
                  <a:srgbClr val="FFFFFF"/>
                </a:solidFill>
                <a:latin typeface="Cambria"/>
              </a:rPr>
              <a:t>AI-Based Restoration of</a:t>
            </a:r>
          </a:p>
          <a:p>
            <a:pPr>
              <a:spcAft>
                <a:spcPts val="600"/>
              </a:spcAft>
            </a:pPr>
            <a:r>
              <a:rPr sz="3000" b="1" i="0">
                <a:solidFill>
                  <a:srgbClr val="4FC4CE"/>
                </a:solidFill>
                <a:latin typeface="Cambria"/>
              </a:rPr>
              <a:t>Degraded Inspection Images</a:t>
            </a:r>
          </a:p>
        </p:txBody>
      </p:sp>
      <p:sp>
        <p:nvSpPr>
          <p:cNvPr id="3" name="TextBox 2"/>
          <p:cNvSpPr txBox="1"/>
          <p:nvPr/>
        </p:nvSpPr>
        <p:spPr>
          <a:xfrm>
            <a:off x="566928" y="2084831"/>
            <a:ext cx="10515600" cy="365760"/>
          </a:xfrm>
          <a:prstGeom prst="rect">
            <a:avLst/>
          </a:prstGeom>
          <a:noFill/>
        </p:spPr>
        <p:txBody>
          <a:bodyPr wrap="square" lIns="0" rIns="0" tIns="0" bIns="0" anchor="t">
            <a:spAutoFit/>
          </a:bodyPr>
          <a:lstStyle/>
          <a:p>
            <a:pPr algn="l">
              <a:spcAft>
                <a:spcPts val="500"/>
              </a:spcAft>
            </a:pPr>
            <a:r>
              <a:rPr sz="1250" b="0" i="0">
                <a:solidFill>
                  <a:srgbClr val="C9D6E0"/>
                </a:solidFill>
                <a:latin typeface="Calibri"/>
              </a:rPr>
              <a:t>Joint denoising and 2x super-resolution, built on a degradation model recovered from the data</a:t>
            </a:r>
          </a:p>
        </p:txBody>
      </p:sp>
      <p:sp>
        <p:nvSpPr>
          <p:cNvPr id="4" name="Rectangle 3"/>
          <p:cNvSpPr/>
          <p:nvPr/>
        </p:nvSpPr>
        <p:spPr>
          <a:xfrm>
            <a:off x="566928" y="2743200"/>
            <a:ext cx="822960" cy="329184"/>
          </a:xfrm>
          <a:prstGeom prst="rect">
            <a:avLst/>
          </a:prstGeom>
          <a:solidFill>
            <a:srgbClr val="1E3A50"/>
          </a:solidFill>
          <a:ln w="6350">
            <a:solidFill>
              <a:srgbClr val="2A445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58368" y="2793492"/>
            <a:ext cx="685800" cy="274320"/>
          </a:xfrm>
          <a:prstGeom prst="rect">
            <a:avLst/>
          </a:prstGeom>
          <a:noFill/>
        </p:spPr>
        <p:txBody>
          <a:bodyPr wrap="square" lIns="0" rIns="0" tIns="0" bIns="0" anchor="ctr">
            <a:spAutoFit/>
          </a:bodyPr>
          <a:lstStyle/>
          <a:p>
            <a:pPr algn="l">
              <a:spcAft>
                <a:spcPts val="0"/>
              </a:spcAft>
            </a:pPr>
            <a:r>
              <a:rPr sz="1050" b="1" i="0">
                <a:solidFill>
                  <a:srgbClr val="4FC4CE"/>
                </a:solidFill>
                <a:latin typeface="Calibri"/>
              </a:rPr>
              <a:t>SR. NO</a:t>
            </a:r>
          </a:p>
        </p:txBody>
      </p:sp>
      <p:sp>
        <p:nvSpPr>
          <p:cNvPr id="6" name="Rectangle 5"/>
          <p:cNvSpPr/>
          <p:nvPr/>
        </p:nvSpPr>
        <p:spPr>
          <a:xfrm>
            <a:off x="1389888" y="2743200"/>
            <a:ext cx="2194560" cy="329184"/>
          </a:xfrm>
          <a:prstGeom prst="rect">
            <a:avLst/>
          </a:prstGeom>
          <a:solidFill>
            <a:srgbClr val="1E3A50"/>
          </a:solidFill>
          <a:ln w="6350">
            <a:solidFill>
              <a:srgbClr val="2A445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481328" y="2793492"/>
            <a:ext cx="2057400" cy="274320"/>
          </a:xfrm>
          <a:prstGeom prst="rect">
            <a:avLst/>
          </a:prstGeom>
          <a:noFill/>
        </p:spPr>
        <p:txBody>
          <a:bodyPr wrap="square" lIns="0" rIns="0" tIns="0" bIns="0" anchor="ctr">
            <a:spAutoFit/>
          </a:bodyPr>
          <a:lstStyle/>
          <a:p>
            <a:pPr algn="l">
              <a:spcAft>
                <a:spcPts val="0"/>
              </a:spcAft>
            </a:pPr>
            <a:r>
              <a:rPr sz="1050" b="1" i="0">
                <a:solidFill>
                  <a:srgbClr val="4FC4CE"/>
                </a:solidFill>
                <a:latin typeface="Calibri"/>
              </a:rPr>
              <a:t>ROLE</a:t>
            </a:r>
          </a:p>
        </p:txBody>
      </p:sp>
      <p:sp>
        <p:nvSpPr>
          <p:cNvPr id="8" name="Rectangle 7"/>
          <p:cNvSpPr/>
          <p:nvPr/>
        </p:nvSpPr>
        <p:spPr>
          <a:xfrm>
            <a:off x="3584448" y="2743200"/>
            <a:ext cx="3840480" cy="329184"/>
          </a:xfrm>
          <a:prstGeom prst="rect">
            <a:avLst/>
          </a:prstGeom>
          <a:solidFill>
            <a:srgbClr val="1E3A50"/>
          </a:solidFill>
          <a:ln w="6350">
            <a:solidFill>
              <a:srgbClr val="2A445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675887" y="2793492"/>
            <a:ext cx="3703320" cy="274320"/>
          </a:xfrm>
          <a:prstGeom prst="rect">
            <a:avLst/>
          </a:prstGeom>
          <a:noFill/>
        </p:spPr>
        <p:txBody>
          <a:bodyPr wrap="square" lIns="0" rIns="0" tIns="0" bIns="0" anchor="ctr">
            <a:spAutoFit/>
          </a:bodyPr>
          <a:lstStyle/>
          <a:p>
            <a:pPr algn="l">
              <a:spcAft>
                <a:spcPts val="0"/>
              </a:spcAft>
            </a:pPr>
            <a:r>
              <a:rPr sz="1050" b="1" i="0">
                <a:solidFill>
                  <a:srgbClr val="4FC4CE"/>
                </a:solidFill>
                <a:latin typeface="Calibri"/>
              </a:rPr>
              <a:t>NAME</a:t>
            </a:r>
          </a:p>
        </p:txBody>
      </p:sp>
      <p:sp>
        <p:nvSpPr>
          <p:cNvPr id="10" name="Rectangle 9"/>
          <p:cNvSpPr/>
          <p:nvPr/>
        </p:nvSpPr>
        <p:spPr>
          <a:xfrm>
            <a:off x="7424928" y="2743200"/>
            <a:ext cx="2011680" cy="329184"/>
          </a:xfrm>
          <a:prstGeom prst="rect">
            <a:avLst/>
          </a:prstGeom>
          <a:solidFill>
            <a:srgbClr val="1E3A50"/>
          </a:solidFill>
          <a:ln w="6350">
            <a:solidFill>
              <a:srgbClr val="2A445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516368" y="2793492"/>
            <a:ext cx="1874520" cy="274320"/>
          </a:xfrm>
          <a:prstGeom prst="rect">
            <a:avLst/>
          </a:prstGeom>
          <a:noFill/>
        </p:spPr>
        <p:txBody>
          <a:bodyPr wrap="square" lIns="0" rIns="0" tIns="0" bIns="0" anchor="ctr">
            <a:spAutoFit/>
          </a:bodyPr>
          <a:lstStyle/>
          <a:p>
            <a:pPr algn="l">
              <a:spcAft>
                <a:spcPts val="0"/>
              </a:spcAft>
            </a:pPr>
            <a:r>
              <a:rPr sz="1050" b="1" i="0">
                <a:solidFill>
                  <a:srgbClr val="4FC4CE"/>
                </a:solidFill>
                <a:latin typeface="Calibri"/>
              </a:rPr>
              <a:t>ACADEMIC YEAR</a:t>
            </a:r>
          </a:p>
        </p:txBody>
      </p:sp>
      <p:sp>
        <p:nvSpPr>
          <p:cNvPr id="12" name="Rectangle 11"/>
          <p:cNvSpPr/>
          <p:nvPr/>
        </p:nvSpPr>
        <p:spPr>
          <a:xfrm>
            <a:off x="566928" y="3072384"/>
            <a:ext cx="822960" cy="329184"/>
          </a:xfrm>
          <a:prstGeom prst="rect">
            <a:avLst/>
          </a:prstGeom>
          <a:solidFill>
            <a:srgbClr val="142A3E"/>
          </a:solidFill>
          <a:ln w="6350">
            <a:solidFill>
              <a:srgbClr val="2A445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58368" y="3122676"/>
            <a:ext cx="685800" cy="274320"/>
          </a:xfrm>
          <a:prstGeom prst="rect">
            <a:avLst/>
          </a:prstGeom>
          <a:noFill/>
        </p:spPr>
        <p:txBody>
          <a:bodyPr wrap="square" lIns="0" rIns="0" tIns="0" bIns="0" anchor="ctr">
            <a:spAutoFit/>
          </a:bodyPr>
          <a:lstStyle/>
          <a:p>
            <a:pPr algn="l">
              <a:spcAft>
                <a:spcPts val="0"/>
              </a:spcAft>
            </a:pPr>
            <a:r>
              <a:rPr sz="1050" b="0" i="0">
                <a:solidFill>
                  <a:srgbClr val="FFFFFF"/>
                </a:solidFill>
                <a:latin typeface="Calibri"/>
              </a:rPr>
              <a:t>1</a:t>
            </a:r>
          </a:p>
        </p:txBody>
      </p:sp>
      <p:sp>
        <p:nvSpPr>
          <p:cNvPr id="14" name="Rectangle 13"/>
          <p:cNvSpPr/>
          <p:nvPr/>
        </p:nvSpPr>
        <p:spPr>
          <a:xfrm>
            <a:off x="1389888" y="3072384"/>
            <a:ext cx="2194560" cy="329184"/>
          </a:xfrm>
          <a:prstGeom prst="rect">
            <a:avLst/>
          </a:prstGeom>
          <a:solidFill>
            <a:srgbClr val="142A3E"/>
          </a:solidFill>
          <a:ln w="6350">
            <a:solidFill>
              <a:srgbClr val="2A445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481328" y="3122676"/>
            <a:ext cx="2057400" cy="274320"/>
          </a:xfrm>
          <a:prstGeom prst="rect">
            <a:avLst/>
          </a:prstGeom>
          <a:noFill/>
        </p:spPr>
        <p:txBody>
          <a:bodyPr wrap="square" lIns="0" rIns="0" tIns="0" bIns="0" anchor="ctr">
            <a:spAutoFit/>
          </a:bodyPr>
          <a:lstStyle/>
          <a:p>
            <a:pPr algn="l">
              <a:spcAft>
                <a:spcPts val="0"/>
              </a:spcAft>
            </a:pPr>
            <a:r>
              <a:rPr sz="1050" b="0" i="0">
                <a:solidFill>
                  <a:srgbClr val="FFFFFF"/>
                </a:solidFill>
                <a:latin typeface="Calibri"/>
              </a:rPr>
              <a:t>Team Leader</a:t>
            </a:r>
          </a:p>
        </p:txBody>
      </p:sp>
      <p:sp>
        <p:nvSpPr>
          <p:cNvPr id="16" name="Rectangle 15"/>
          <p:cNvSpPr/>
          <p:nvPr/>
        </p:nvSpPr>
        <p:spPr>
          <a:xfrm>
            <a:off x="3584448" y="3072384"/>
            <a:ext cx="3840480" cy="329184"/>
          </a:xfrm>
          <a:prstGeom prst="rect">
            <a:avLst/>
          </a:prstGeom>
          <a:solidFill>
            <a:srgbClr val="142A3E"/>
          </a:solidFill>
          <a:ln w="6350">
            <a:solidFill>
              <a:srgbClr val="2A445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675887" y="3122676"/>
            <a:ext cx="3703320" cy="274320"/>
          </a:xfrm>
          <a:prstGeom prst="rect">
            <a:avLst/>
          </a:prstGeom>
          <a:noFill/>
        </p:spPr>
        <p:txBody>
          <a:bodyPr wrap="square" lIns="0" rIns="0" tIns="0" bIns="0" anchor="ctr">
            <a:spAutoFit/>
          </a:bodyPr>
          <a:lstStyle/>
          <a:p>
            <a:pPr algn="l">
              <a:spcAft>
                <a:spcPts val="0"/>
              </a:spcAft>
            </a:pPr>
            <a:r>
              <a:rPr sz="1050" b="0" i="0">
                <a:solidFill>
                  <a:srgbClr val="FFFFFF"/>
                </a:solidFill>
                <a:latin typeface="Calibri"/>
              </a:rPr>
              <a:t>Aman Kumar Maurya</a:t>
            </a:r>
          </a:p>
        </p:txBody>
      </p:sp>
      <p:sp>
        <p:nvSpPr>
          <p:cNvPr id="18" name="Rectangle 17"/>
          <p:cNvSpPr/>
          <p:nvPr/>
        </p:nvSpPr>
        <p:spPr>
          <a:xfrm>
            <a:off x="7424928" y="3072384"/>
            <a:ext cx="2011680" cy="329184"/>
          </a:xfrm>
          <a:prstGeom prst="rect">
            <a:avLst/>
          </a:prstGeom>
          <a:solidFill>
            <a:srgbClr val="142A3E"/>
          </a:solidFill>
          <a:ln w="6350">
            <a:solidFill>
              <a:srgbClr val="2A445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516368" y="3122676"/>
            <a:ext cx="1874520" cy="274320"/>
          </a:xfrm>
          <a:prstGeom prst="rect">
            <a:avLst/>
          </a:prstGeom>
          <a:noFill/>
        </p:spPr>
        <p:txBody>
          <a:bodyPr wrap="square" lIns="0" rIns="0" tIns="0" bIns="0" anchor="ctr">
            <a:spAutoFit/>
          </a:bodyPr>
          <a:lstStyle/>
          <a:p>
            <a:pPr algn="l">
              <a:spcAft>
                <a:spcPts val="0"/>
              </a:spcAft>
            </a:pPr>
            <a:r>
              <a:rPr sz="1050" b="0" i="0">
                <a:solidFill>
                  <a:srgbClr val="FFFFFF"/>
                </a:solidFill>
                <a:latin typeface="Calibri"/>
              </a:rPr>
              <a:t>4th Year</a:t>
            </a:r>
          </a:p>
        </p:txBody>
      </p:sp>
      <p:sp>
        <p:nvSpPr>
          <p:cNvPr id="20" name="TextBox 19"/>
          <p:cNvSpPr txBox="1"/>
          <p:nvPr/>
        </p:nvSpPr>
        <p:spPr>
          <a:xfrm>
            <a:off x="566928" y="3694176"/>
            <a:ext cx="10515600" cy="1097280"/>
          </a:xfrm>
          <a:prstGeom prst="rect">
            <a:avLst/>
          </a:prstGeom>
          <a:noFill/>
        </p:spPr>
        <p:txBody>
          <a:bodyPr wrap="square" lIns="0" rIns="0" tIns="0" bIns="0" anchor="t">
            <a:spAutoFit/>
          </a:bodyPr>
          <a:lstStyle/>
          <a:p>
            <a:pPr algn="l">
              <a:spcAft>
                <a:spcPts val="400"/>
              </a:spcAft>
            </a:pPr>
            <a:r>
              <a:rPr sz="1300" b="1" i="0">
                <a:solidFill>
                  <a:srgbClr val="FFFFFF"/>
                </a:solidFill>
                <a:latin typeface="Calibri"/>
              </a:rPr>
              <a:t>Team: perceptron</a:t>
            </a:r>
          </a:p>
          <a:p>
            <a:pPr>
              <a:spcAft>
                <a:spcPts val="400"/>
              </a:spcAft>
            </a:pPr>
            <a:r>
              <a:rPr sz="1150" b="0" i="0">
                <a:solidFill>
                  <a:srgbClr val="C9D6E0"/>
                </a:solidFill>
                <a:latin typeface="Calibri"/>
              </a:rPr>
              <a:t>Indian Institute of Technology Madras</a:t>
            </a:r>
          </a:p>
          <a:p>
            <a:pPr>
              <a:spcAft>
                <a:spcPts val="0"/>
              </a:spcAft>
            </a:pPr>
            <a:r>
              <a:rPr sz="1100" b="0" i="0">
                <a:solidFill>
                  <a:srgbClr val="5A6B7A"/>
                </a:solidFill>
                <a:latin typeface="Calibri"/>
              </a:rPr>
              <a:t>8318354205   |   23f2001033@ds.study.iitm.ac.in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66928" y="384048"/>
            <a:ext cx="11057839" cy="566928"/>
          </a:xfrm>
          <a:prstGeom prst="rect">
            <a:avLst/>
          </a:prstGeom>
          <a:noFill/>
        </p:spPr>
        <p:txBody>
          <a:bodyPr wrap="square" lIns="0" rIns="0" tIns="0" bIns="0" anchor="t">
            <a:spAutoFit/>
          </a:bodyPr>
          <a:lstStyle/>
          <a:p>
            <a:pPr algn="l">
              <a:spcAft>
                <a:spcPts val="200"/>
              </a:spcAft>
            </a:pPr>
            <a:r>
              <a:rPr sz="2600" b="1" i="0">
                <a:solidFill>
                  <a:srgbClr val="1A2733"/>
                </a:solidFill>
                <a:latin typeface="Cambria"/>
              </a:rPr>
              <a:t>Problem Statement Addressed</a:t>
            </a:r>
          </a:p>
        </p:txBody>
      </p:sp>
      <p:sp>
        <p:nvSpPr>
          <p:cNvPr id="3" name="TextBox 2"/>
          <p:cNvSpPr txBox="1"/>
          <p:nvPr/>
        </p:nvSpPr>
        <p:spPr>
          <a:xfrm>
            <a:off x="566928" y="987552"/>
            <a:ext cx="11057839" cy="310896"/>
          </a:xfrm>
          <a:prstGeom prst="rect">
            <a:avLst/>
          </a:prstGeom>
          <a:noFill/>
        </p:spPr>
        <p:txBody>
          <a:bodyPr wrap="square" lIns="0" rIns="0" tIns="0" bIns="0" anchor="t">
            <a:spAutoFit/>
          </a:bodyPr>
          <a:lstStyle/>
          <a:p>
            <a:pPr algn="l">
              <a:spcAft>
                <a:spcPts val="500"/>
              </a:spcAft>
            </a:pPr>
            <a:r>
              <a:rPr sz="1150" b="0" i="0">
                <a:solidFill>
                  <a:srgbClr val="5A6B7A"/>
                </a:solidFill>
                <a:latin typeface="Calibri"/>
              </a:rPr>
              <a:t>AI-Based Restoration of Degraded Images for Semiconductor Inspection (KLA)</a:t>
            </a:r>
          </a:p>
        </p:txBody>
      </p:sp>
      <p:sp>
        <p:nvSpPr>
          <p:cNvPr id="4" name="Rectangle 3"/>
          <p:cNvSpPr/>
          <p:nvPr/>
        </p:nvSpPr>
        <p:spPr>
          <a:xfrm>
            <a:off x="566928" y="1371600"/>
            <a:ext cx="11057839" cy="18288"/>
          </a:xfrm>
          <a:prstGeom prst="rect">
            <a:avLst/>
          </a:prstGeom>
          <a:solidFill>
            <a:srgbClr val="D8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566928" y="1627632"/>
            <a:ext cx="5532120" cy="2834640"/>
          </a:xfrm>
          <a:prstGeom prst="roundRect">
            <a:avLst>
              <a:gd name="adj" fmla="val 5000"/>
            </a:avLst>
          </a:prstGeom>
          <a:solidFill>
            <a:srgbClr val="FFFFFF"/>
          </a:solidFill>
          <a:ln w="9525">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spcAft>
                <a:spcPts val="800"/>
              </a:spcAft>
            </a:pPr>
            <a:r>
              <a:rPr sz="1100" b="1" i="0">
                <a:solidFill>
                  <a:srgbClr val="007C91"/>
                </a:solidFill>
                <a:latin typeface="Calibri"/>
              </a:rPr>
              <a:t>DESCRIPTION / DETAILS</a:t>
            </a:r>
          </a:p>
          <a:p>
            <a:pPr>
              <a:spcAft>
                <a:spcPts val="600"/>
              </a:spcAft>
            </a:pPr>
            <a:r>
              <a:rPr sz="1250">
                <a:solidFill>
                  <a:srgbClr val="1A2733"/>
                </a:solidFill>
                <a:latin typeface="Calibri"/>
              </a:rPr>
              <a:t>•  Inspection images arrive degraded by speckle noise, additive Gaussian noise and downsampling, applied in an undisclosed order</a:t>
            </a:r>
          </a:p>
          <a:p>
            <a:pPr>
              <a:spcAft>
                <a:spcPts val="600"/>
              </a:spcAft>
            </a:pPr>
            <a:r>
              <a:rPr sz="1250">
                <a:solidFill>
                  <a:srgbClr val="1A2733"/>
                </a:solidFill>
                <a:latin typeface="Calibri"/>
              </a:rPr>
              <a:t>•  Detail lost to degradation reduces the reliability of every downstream measurement and defect-detection step</a:t>
            </a:r>
          </a:p>
          <a:p>
            <a:pPr>
              <a:spcAft>
                <a:spcPts val="600"/>
              </a:spcAft>
            </a:pPr>
            <a:r>
              <a:rPr sz="1250">
                <a:solidFill>
                  <a:srgbClr val="1A2733"/>
                </a:solidFill>
                <a:latin typeface="Calibri"/>
              </a:rPr>
              <a:t>•  Input is half resolution and noisy; output must be clean at full ground-truth resolution</a:t>
            </a:r>
          </a:p>
          <a:p>
            <a:pPr>
              <a:spcAft>
                <a:spcPts val="600"/>
              </a:spcAft>
            </a:pPr>
            <a:r>
              <a:rPr sz="1250">
                <a:solidFill>
                  <a:srgbClr val="1A2733"/>
                </a:solidFill>
                <a:latin typeface="Calibri"/>
              </a:rPr>
              <a:t>•  The hidden test set includes out-of-distribution content, so the model must generalise beyond the training images</a:t>
            </a:r>
          </a:p>
        </p:txBody>
      </p:sp>
      <p:sp>
        <p:nvSpPr>
          <p:cNvPr id="6" name="Rounded Rectangle 5"/>
          <p:cNvSpPr/>
          <p:nvPr/>
        </p:nvSpPr>
        <p:spPr>
          <a:xfrm>
            <a:off x="6373368" y="1627632"/>
            <a:ext cx="5212080" cy="2834640"/>
          </a:xfrm>
          <a:prstGeom prst="roundRect">
            <a:avLst>
              <a:gd name="adj" fmla="val 5000"/>
            </a:avLst>
          </a:prstGeom>
          <a:solidFill>
            <a:srgbClr val="FFFFFF"/>
          </a:solidFill>
          <a:ln w="9525">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spcAft>
                <a:spcPts val="800"/>
              </a:spcAft>
            </a:pPr>
            <a:r>
              <a:rPr sz="1100" b="1" i="0">
                <a:solidFill>
                  <a:srgbClr val="007C91"/>
                </a:solidFill>
                <a:latin typeface="Calibri"/>
              </a:rPr>
              <a:t>WHY IT MATTERS</a:t>
            </a:r>
          </a:p>
          <a:p>
            <a:pPr>
              <a:spcAft>
                <a:spcPts val="600"/>
              </a:spcAft>
            </a:pPr>
            <a:r>
              <a:rPr sz="1250">
                <a:solidFill>
                  <a:srgbClr val="1A2733"/>
                </a:solidFill>
                <a:latin typeface="Calibri"/>
              </a:rPr>
              <a:t>•  Semiconductor inspection is a precision-measurement task: invented detail is worse than no detail</a:t>
            </a:r>
          </a:p>
          <a:p>
            <a:pPr>
              <a:spcAft>
                <a:spcPts val="600"/>
              </a:spcAft>
            </a:pPr>
            <a:r>
              <a:rPr sz="1250">
                <a:solidFill>
                  <a:srgbClr val="1A2733"/>
                </a:solidFill>
                <a:latin typeface="Calibri"/>
              </a:rPr>
              <a:t>•  Cleaner images at higher resolution mean fewer missed defects and fewer false alarms</a:t>
            </a:r>
          </a:p>
          <a:p>
            <a:pPr>
              <a:spcAft>
                <a:spcPts val="600"/>
              </a:spcAft>
            </a:pPr>
            <a:r>
              <a:rPr sz="1250">
                <a:solidFill>
                  <a:srgbClr val="1A2733"/>
                </a:solidFill>
                <a:latin typeface="Calibri"/>
              </a:rPr>
              <a:t>•  Scored on restoration quality, end-to-end H100 throughput and reproducibility together</a:t>
            </a:r>
          </a:p>
        </p:txBody>
      </p:sp>
      <p:sp>
        <p:nvSpPr>
          <p:cNvPr id="7" name="TextBox 6"/>
          <p:cNvSpPr txBox="1"/>
          <p:nvPr/>
        </p:nvSpPr>
        <p:spPr>
          <a:xfrm>
            <a:off x="566928" y="4709160"/>
            <a:ext cx="3200400" cy="868680"/>
          </a:xfrm>
          <a:prstGeom prst="rect">
            <a:avLst/>
          </a:prstGeom>
          <a:noFill/>
        </p:spPr>
        <p:txBody>
          <a:bodyPr wrap="square" lIns="0" rIns="0" tIns="0" bIns="0" anchor="t">
            <a:spAutoFit/>
          </a:bodyPr>
          <a:lstStyle/>
          <a:p>
            <a:pPr algn="l">
              <a:spcAft>
                <a:spcPts val="100"/>
              </a:spcAft>
            </a:pPr>
            <a:r>
              <a:rPr sz="2600" b="1" i="0">
                <a:solidFill>
                  <a:srgbClr val="C88600"/>
                </a:solidFill>
                <a:latin typeface="Cambria"/>
              </a:rPr>
              <a:t>22.94 dB</a:t>
            </a:r>
          </a:p>
          <a:p>
            <a:pPr>
              <a:spcAft>
                <a:spcPts val="0"/>
              </a:spcAft>
            </a:pPr>
            <a:r>
              <a:rPr sz="1000" b="0" i="0">
                <a:solidFill>
                  <a:srgbClr val="5A6B7A"/>
                </a:solidFill>
                <a:latin typeface="Calibri"/>
              </a:rPr>
              <a:t>doing nothing (bicubic upsample)</a:t>
            </a:r>
          </a:p>
        </p:txBody>
      </p:sp>
      <p:sp>
        <p:nvSpPr>
          <p:cNvPr id="8" name="TextBox 7"/>
          <p:cNvSpPr txBox="1"/>
          <p:nvPr/>
        </p:nvSpPr>
        <p:spPr>
          <a:xfrm>
            <a:off x="4041648" y="4709160"/>
            <a:ext cx="3200400" cy="868680"/>
          </a:xfrm>
          <a:prstGeom prst="rect">
            <a:avLst/>
          </a:prstGeom>
          <a:noFill/>
        </p:spPr>
        <p:txBody>
          <a:bodyPr wrap="square" lIns="0" rIns="0" tIns="0" bIns="0" anchor="t">
            <a:spAutoFit/>
          </a:bodyPr>
          <a:lstStyle/>
          <a:p>
            <a:pPr algn="l">
              <a:spcAft>
                <a:spcPts val="100"/>
              </a:spcAft>
            </a:pPr>
            <a:r>
              <a:rPr sz="2600" b="1" i="0">
                <a:solidFill>
                  <a:srgbClr val="5A6B7A"/>
                </a:solidFill>
                <a:latin typeface="Cambria"/>
              </a:rPr>
              <a:t>32.25 dB</a:t>
            </a:r>
          </a:p>
          <a:p>
            <a:pPr>
              <a:spcAft>
                <a:spcPts val="0"/>
              </a:spcAft>
            </a:pPr>
            <a:r>
              <a:rPr sz="1000" b="0" i="0">
                <a:solidFill>
                  <a:srgbClr val="5A6B7A"/>
                </a:solidFill>
                <a:latin typeface="Calibri"/>
              </a:rPr>
              <a:t>denoise-then-interpolate ceiling</a:t>
            </a:r>
          </a:p>
        </p:txBody>
      </p:sp>
      <p:sp>
        <p:nvSpPr>
          <p:cNvPr id="9" name="TextBox 8"/>
          <p:cNvSpPr txBox="1"/>
          <p:nvPr/>
        </p:nvSpPr>
        <p:spPr>
          <a:xfrm>
            <a:off x="7516367" y="4709160"/>
            <a:ext cx="4023360" cy="868680"/>
          </a:xfrm>
          <a:prstGeom prst="rect">
            <a:avLst/>
          </a:prstGeom>
          <a:noFill/>
        </p:spPr>
        <p:txBody>
          <a:bodyPr wrap="square" lIns="0" rIns="0" tIns="0" bIns="0" anchor="t">
            <a:spAutoFit/>
          </a:bodyPr>
          <a:lstStyle/>
          <a:p>
            <a:pPr algn="l">
              <a:spcAft>
                <a:spcPts val="100"/>
              </a:spcAft>
            </a:pPr>
            <a:r>
              <a:rPr sz="2600" b="1" i="0">
                <a:solidFill>
                  <a:srgbClr val="007C91"/>
                </a:solidFill>
                <a:latin typeface="Cambria"/>
              </a:rPr>
              <a:t>3200 pairs</a:t>
            </a:r>
          </a:p>
          <a:p>
            <a:pPr>
              <a:spcAft>
                <a:spcPts val="0"/>
              </a:spcAft>
            </a:pPr>
            <a:r>
              <a:rPr sz="1000" b="0" i="0">
                <a:solidFill>
                  <a:srgbClr val="5A6B7A"/>
                </a:solidFill>
                <a:latin typeface="Calibri"/>
              </a:rPr>
              <a:t>provided training data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66928" y="384048"/>
            <a:ext cx="11057839" cy="566928"/>
          </a:xfrm>
          <a:prstGeom prst="rect">
            <a:avLst/>
          </a:prstGeom>
          <a:noFill/>
        </p:spPr>
        <p:txBody>
          <a:bodyPr wrap="square" lIns="0" rIns="0" tIns="0" bIns="0" anchor="t">
            <a:spAutoFit/>
          </a:bodyPr>
          <a:lstStyle/>
          <a:p>
            <a:pPr algn="l">
              <a:spcAft>
                <a:spcPts val="200"/>
              </a:spcAft>
            </a:pPr>
            <a:r>
              <a:rPr sz="2600" b="1" i="0">
                <a:solidFill>
                  <a:srgbClr val="1A2733"/>
                </a:solidFill>
                <a:latin typeface="Cambria"/>
              </a:rPr>
              <a:t>Idea Description and Proposed Solution</a:t>
            </a:r>
          </a:p>
        </p:txBody>
      </p:sp>
      <p:sp>
        <p:nvSpPr>
          <p:cNvPr id="3" name="TextBox 2"/>
          <p:cNvSpPr txBox="1"/>
          <p:nvPr/>
        </p:nvSpPr>
        <p:spPr>
          <a:xfrm>
            <a:off x="566928" y="987552"/>
            <a:ext cx="11057839" cy="310896"/>
          </a:xfrm>
          <a:prstGeom prst="rect">
            <a:avLst/>
          </a:prstGeom>
          <a:noFill/>
        </p:spPr>
        <p:txBody>
          <a:bodyPr wrap="square" lIns="0" rIns="0" tIns="0" bIns="0" anchor="t">
            <a:spAutoFit/>
          </a:bodyPr>
          <a:lstStyle/>
          <a:p>
            <a:pPr algn="l">
              <a:spcAft>
                <a:spcPts val="500"/>
              </a:spcAft>
            </a:pPr>
            <a:r>
              <a:rPr sz="1150" b="0" i="0">
                <a:solidFill>
                  <a:srgbClr val="5A6B7A"/>
                </a:solidFill>
                <a:latin typeface="Calibri"/>
              </a:rPr>
              <a:t>One network, one forward pass: joint denoise + 2x super-resolution</a:t>
            </a:r>
          </a:p>
        </p:txBody>
      </p:sp>
      <p:sp>
        <p:nvSpPr>
          <p:cNvPr id="4" name="Rectangle 3"/>
          <p:cNvSpPr/>
          <p:nvPr/>
        </p:nvSpPr>
        <p:spPr>
          <a:xfrm>
            <a:off x="566928" y="1371600"/>
            <a:ext cx="11057839" cy="18288"/>
          </a:xfrm>
          <a:prstGeom prst="rect">
            <a:avLst/>
          </a:prstGeom>
          <a:solidFill>
            <a:srgbClr val="D8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566928" y="1645920"/>
            <a:ext cx="2578608" cy="1600200"/>
          </a:xfrm>
          <a:prstGeom prst="roundRect">
            <a:avLst>
              <a:gd name="adj" fmla="val 5000"/>
            </a:avLst>
          </a:prstGeom>
          <a:solidFill>
            <a:srgbClr val="FFFFFF"/>
          </a:solidFill>
          <a:ln w="9525">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spcAft>
                <a:spcPts val="400"/>
              </a:spcAft>
            </a:pPr>
            <a:r>
              <a:rPr sz="1050" b="1" i="0">
                <a:solidFill>
                  <a:srgbClr val="007C91"/>
                </a:solidFill>
                <a:latin typeface="Calibri"/>
              </a:rPr>
              <a:t>01</a:t>
            </a:r>
          </a:p>
          <a:p>
            <a:pPr>
              <a:spcAft>
                <a:spcPts val="600"/>
              </a:spcAft>
            </a:pPr>
            <a:r>
              <a:rPr sz="1350" b="1" i="0">
                <a:solidFill>
                  <a:srgbClr val="1A2733"/>
                </a:solidFill>
                <a:latin typeface="Cambria"/>
              </a:rPr>
              <a:t>Recover the forward model</a:t>
            </a:r>
          </a:p>
          <a:p>
            <a:pPr>
              <a:spcAft>
                <a:spcPts val="0"/>
              </a:spcAft>
            </a:pPr>
            <a:r>
              <a:rPr sz="1050" b="0" i="0">
                <a:solidFill>
                  <a:srgbClr val="5A6B7A"/>
                </a:solidFill>
                <a:latin typeface="Calibri"/>
              </a:rPr>
              <a:t>Fit the degradation from the data instead of assuming it</a:t>
            </a:r>
          </a:p>
        </p:txBody>
      </p:sp>
      <p:sp>
        <p:nvSpPr>
          <p:cNvPr id="6" name="Right Arrow 5"/>
          <p:cNvSpPr/>
          <p:nvPr/>
        </p:nvSpPr>
        <p:spPr>
          <a:xfrm>
            <a:off x="3172968" y="2286000"/>
            <a:ext cx="237744" cy="292608"/>
          </a:xfrm>
          <a:prstGeom prst="rightArrow">
            <a:avLst/>
          </a:prstGeom>
          <a:solidFill>
            <a:srgbClr val="007C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3456432" y="1645920"/>
            <a:ext cx="2578608" cy="1600200"/>
          </a:xfrm>
          <a:prstGeom prst="roundRect">
            <a:avLst>
              <a:gd name="adj" fmla="val 5000"/>
            </a:avLst>
          </a:prstGeom>
          <a:solidFill>
            <a:srgbClr val="FFFFFF"/>
          </a:solidFill>
          <a:ln w="9525">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spcAft>
                <a:spcPts val="400"/>
              </a:spcAft>
            </a:pPr>
            <a:r>
              <a:rPr sz="1050" b="1" i="0">
                <a:solidFill>
                  <a:srgbClr val="007C91"/>
                </a:solidFill>
                <a:latin typeface="Calibri"/>
              </a:rPr>
              <a:t>02</a:t>
            </a:r>
          </a:p>
          <a:p>
            <a:pPr>
              <a:spcAft>
                <a:spcPts val="600"/>
              </a:spcAft>
            </a:pPr>
            <a:r>
              <a:rPr sz="1350" b="1" i="0">
                <a:solidFill>
                  <a:srgbClr val="1A2733"/>
                </a:solidFill>
                <a:latin typeface="Cambria"/>
              </a:rPr>
              <a:t>Generate matched training pairs</a:t>
            </a:r>
          </a:p>
          <a:p>
            <a:pPr>
              <a:spcAft>
                <a:spcPts val="0"/>
              </a:spcAft>
            </a:pPr>
            <a:r>
              <a:rPr sz="1050" b="0" i="0">
                <a:solidFill>
                  <a:srgbClr val="5A6B7A"/>
                </a:solidFill>
                <a:latin typeface="Calibri"/>
              </a:rPr>
              <a:t>Sample noise from the measured distribution, widened</a:t>
            </a:r>
          </a:p>
        </p:txBody>
      </p:sp>
      <p:sp>
        <p:nvSpPr>
          <p:cNvPr id="8" name="Right Arrow 7"/>
          <p:cNvSpPr/>
          <p:nvPr/>
        </p:nvSpPr>
        <p:spPr>
          <a:xfrm>
            <a:off x="6062472" y="2286000"/>
            <a:ext cx="237744" cy="292608"/>
          </a:xfrm>
          <a:prstGeom prst="rightArrow">
            <a:avLst/>
          </a:prstGeom>
          <a:solidFill>
            <a:srgbClr val="007C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6345936" y="1645920"/>
            <a:ext cx="2578608" cy="1600200"/>
          </a:xfrm>
          <a:prstGeom prst="roundRect">
            <a:avLst>
              <a:gd name="adj" fmla="val 5000"/>
            </a:avLst>
          </a:prstGeom>
          <a:solidFill>
            <a:srgbClr val="FFFFFF"/>
          </a:solidFill>
          <a:ln w="9525">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spcAft>
                <a:spcPts val="400"/>
              </a:spcAft>
            </a:pPr>
            <a:r>
              <a:rPr sz="1050" b="1" i="0">
                <a:solidFill>
                  <a:srgbClr val="007C91"/>
                </a:solidFill>
                <a:latin typeface="Calibri"/>
              </a:rPr>
              <a:t>03</a:t>
            </a:r>
          </a:p>
          <a:p>
            <a:pPr>
              <a:spcAft>
                <a:spcPts val="600"/>
              </a:spcAft>
            </a:pPr>
            <a:r>
              <a:rPr sz="1350" b="1" i="0">
                <a:solidFill>
                  <a:srgbClr val="1A2733"/>
                </a:solidFill>
                <a:latin typeface="Cambria"/>
              </a:rPr>
              <a:t>Restore in one network</a:t>
            </a:r>
          </a:p>
          <a:p>
            <a:pPr>
              <a:spcAft>
                <a:spcPts val="0"/>
              </a:spcAft>
            </a:pPr>
            <a:r>
              <a:rPr sz="1050" b="0" i="0">
                <a:solidFill>
                  <a:srgbClr val="5A6B7A"/>
                </a:solidFill>
                <a:latin typeface="Calibri"/>
              </a:rPr>
              <a:t>NAF blocks at low resolution + PixelShuffle x2 head</a:t>
            </a:r>
          </a:p>
        </p:txBody>
      </p:sp>
      <p:sp>
        <p:nvSpPr>
          <p:cNvPr id="10" name="Right Arrow 9"/>
          <p:cNvSpPr/>
          <p:nvPr/>
        </p:nvSpPr>
        <p:spPr>
          <a:xfrm>
            <a:off x="8951976" y="2286000"/>
            <a:ext cx="237744" cy="292608"/>
          </a:xfrm>
          <a:prstGeom prst="rightArrow">
            <a:avLst/>
          </a:prstGeom>
          <a:solidFill>
            <a:srgbClr val="007C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9235440" y="1645920"/>
            <a:ext cx="2578608" cy="1600200"/>
          </a:xfrm>
          <a:prstGeom prst="roundRect">
            <a:avLst>
              <a:gd name="adj" fmla="val 5000"/>
            </a:avLst>
          </a:prstGeom>
          <a:solidFill>
            <a:srgbClr val="FFFFFF"/>
          </a:solidFill>
          <a:ln w="9525">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spcAft>
                <a:spcPts val="400"/>
              </a:spcAft>
            </a:pPr>
            <a:r>
              <a:rPr sz="1050" b="1" i="0">
                <a:solidFill>
                  <a:srgbClr val="007C91"/>
                </a:solidFill>
                <a:latin typeface="Calibri"/>
              </a:rPr>
              <a:t>04</a:t>
            </a:r>
          </a:p>
          <a:p>
            <a:pPr>
              <a:spcAft>
                <a:spcPts val="600"/>
              </a:spcAft>
            </a:pPr>
            <a:r>
              <a:rPr sz="1350" b="1" i="0">
                <a:solidFill>
                  <a:srgbClr val="1A2733"/>
                </a:solidFill>
                <a:latin typeface="Cambria"/>
              </a:rPr>
              <a:t>Ship a fast pipeline</a:t>
            </a:r>
          </a:p>
          <a:p>
            <a:pPr>
              <a:spcAft>
                <a:spcPts val="0"/>
              </a:spcAft>
            </a:pPr>
            <a:r>
              <a:rPr sz="1050" b="0" i="0">
                <a:solidFill>
                  <a:srgbClr val="5A6B7A"/>
                </a:solidFill>
                <a:latin typeface="Calibri"/>
              </a:rPr>
              <a:t>Batched, threaded I/O, clamped output, 2 imports</a:t>
            </a:r>
          </a:p>
        </p:txBody>
      </p:sp>
      <p:sp>
        <p:nvSpPr>
          <p:cNvPr id="12" name="Rounded Rectangle 11"/>
          <p:cNvSpPr/>
          <p:nvPr/>
        </p:nvSpPr>
        <p:spPr>
          <a:xfrm>
            <a:off x="566928" y="3429000"/>
            <a:ext cx="5532120" cy="2331720"/>
          </a:xfrm>
          <a:prstGeom prst="roundRect">
            <a:avLst>
              <a:gd name="adj" fmla="val 5000"/>
            </a:avLst>
          </a:prstGeom>
          <a:solidFill>
            <a:srgbClr val="FFFFFF"/>
          </a:solidFill>
          <a:ln w="9525">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spcAft>
                <a:spcPts val="700"/>
              </a:spcAft>
            </a:pPr>
            <a:r>
              <a:rPr sz="1100" b="1" i="0">
                <a:solidFill>
                  <a:srgbClr val="007C91"/>
                </a:solidFill>
                <a:latin typeface="Calibri"/>
              </a:rPr>
              <a:t>SOLUTION DETAILS</a:t>
            </a:r>
          </a:p>
          <a:p>
            <a:pPr>
              <a:spcAft>
                <a:spcPts val="500"/>
              </a:spcAft>
            </a:pPr>
            <a:r>
              <a:rPr sz="1150">
                <a:solidFill>
                  <a:srgbClr val="1A2733"/>
                </a:solidFill>
                <a:latin typeface="Calibri"/>
              </a:rPr>
              <a:t>•  NAFNet-style body: 16 blocks at LOW resolution, single PixelShuffle upsample at the end -- about 4x cheaper than a U-Net at output resolution</a:t>
            </a:r>
          </a:p>
          <a:p>
            <a:pPr>
              <a:spcAft>
                <a:spcPts val="500"/>
              </a:spcAft>
            </a:pPr>
            <a:r>
              <a:rPr sz="1150">
                <a:solidFill>
                  <a:srgbClr val="1A2733"/>
                </a:solidFill>
                <a:latin typeface="Calibri"/>
              </a:rPr>
              <a:t>•  0.68 M parameters, no BatchNorm, so the evaluator's batch size cannot change our outputs (verified to 4.8e-07)</a:t>
            </a:r>
          </a:p>
          <a:p>
            <a:pPr>
              <a:spcAft>
                <a:spcPts val="500"/>
              </a:spcAft>
            </a:pPr>
            <a:r>
              <a:rPr sz="1150">
                <a:solidFill>
                  <a:srgbClr val="1A2733"/>
                </a:solidFill>
                <a:latin typeface="Calibri"/>
              </a:rPr>
              <a:t>•  Fully convolutional: the same weights handle 128-&gt;256 and 256-&gt;512</a:t>
            </a:r>
          </a:p>
          <a:p>
            <a:pPr>
              <a:spcAft>
                <a:spcPts val="500"/>
              </a:spcAft>
            </a:pPr>
            <a:r>
              <a:rPr sz="1150">
                <a:solidFill>
                  <a:srgbClr val="1A2733"/>
                </a:solidFill>
                <a:latin typeface="Calibri"/>
              </a:rPr>
              <a:t>•  Loss = Charbonnier + 0.15 x (1 - SSIM), plus LPIPS for the final 10%</a:t>
            </a:r>
          </a:p>
        </p:txBody>
      </p:sp>
      <p:sp>
        <p:nvSpPr>
          <p:cNvPr id="13" name="Rounded Rectangle 12"/>
          <p:cNvSpPr/>
          <p:nvPr/>
        </p:nvSpPr>
        <p:spPr>
          <a:xfrm>
            <a:off x="6373368" y="3429000"/>
            <a:ext cx="5212080" cy="2331720"/>
          </a:xfrm>
          <a:prstGeom prst="roundRect">
            <a:avLst>
              <a:gd name="adj" fmla="val 5000"/>
            </a:avLst>
          </a:prstGeom>
          <a:solidFill>
            <a:srgbClr val="FFFFFF"/>
          </a:solidFill>
          <a:ln w="15875">
            <a:solidFill>
              <a:srgbClr val="007C91"/>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spcAft>
                <a:spcPts val="700"/>
              </a:spcAft>
            </a:pPr>
            <a:r>
              <a:rPr sz="1100" b="1" i="0">
                <a:solidFill>
                  <a:srgbClr val="007C91"/>
                </a:solidFill>
                <a:latin typeface="Calibri"/>
              </a:rPr>
              <a:t>MEASURED DEGRADATION MODEL</a:t>
            </a:r>
          </a:p>
          <a:p>
            <a:pPr>
              <a:spcAft>
                <a:spcPts val="500"/>
              </a:spcAft>
            </a:pPr>
            <a:r>
              <a:rPr sz="1150">
                <a:solidFill>
                  <a:srgbClr val="1A2733"/>
                </a:solidFill>
                <a:latin typeface="Calibri"/>
              </a:rPr>
              <a:t>•  Downsampling: 2x2 area average (lowest residual of all kernels tested)</a:t>
            </a:r>
          </a:p>
          <a:p>
            <a:pPr>
              <a:spcAft>
                <a:spcPts val="500"/>
              </a:spcAft>
            </a:pPr>
            <a:r>
              <a:rPr sz="1150">
                <a:solidFill>
                  <a:srgbClr val="1A2733"/>
                </a:solidFill>
                <a:latin typeface="Calibri"/>
              </a:rPr>
              <a:t>•  Noise applied AFTER downsampling -- residual is spatially white</a:t>
            </a:r>
          </a:p>
          <a:p>
            <a:pPr>
              <a:spcAft>
                <a:spcPts val="500"/>
              </a:spcAft>
            </a:pPr>
            <a:r>
              <a:rPr sz="1150">
                <a:solidFill>
                  <a:srgbClr val="1A2733"/>
                </a:solidFill>
                <a:latin typeface="Calibri"/>
              </a:rPr>
              <a:t>•  Speckle is multiplicative Gamma: measured skew +0.357 vs Gamma's predicted +0.333</a:t>
            </a:r>
          </a:p>
          <a:p>
            <a:pPr>
              <a:spcAft>
                <a:spcPts val="500"/>
              </a:spcAft>
            </a:pPr>
            <a:r>
              <a:rPr sz="1150">
                <a:solidFill>
                  <a:srgbClr val="1A2733"/>
                </a:solidFill>
                <a:latin typeface="Calibri"/>
              </a:rPr>
              <a:t>•  L median 36; sigma median 0.021, with 21% of images near zero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66928" y="384048"/>
            <a:ext cx="11057839" cy="566928"/>
          </a:xfrm>
          <a:prstGeom prst="rect">
            <a:avLst/>
          </a:prstGeom>
          <a:noFill/>
        </p:spPr>
        <p:txBody>
          <a:bodyPr wrap="square" lIns="0" rIns="0" tIns="0" bIns="0" anchor="t">
            <a:spAutoFit/>
          </a:bodyPr>
          <a:lstStyle/>
          <a:p>
            <a:pPr algn="l">
              <a:spcAft>
                <a:spcPts val="200"/>
              </a:spcAft>
            </a:pPr>
            <a:r>
              <a:rPr sz="2600" b="1" i="0">
                <a:solidFill>
                  <a:srgbClr val="1A2733"/>
                </a:solidFill>
                <a:latin typeface="Cambria"/>
              </a:rPr>
              <a:t>Innovation and Uniqueness</a:t>
            </a:r>
          </a:p>
        </p:txBody>
      </p:sp>
      <p:sp>
        <p:nvSpPr>
          <p:cNvPr id="3" name="TextBox 2"/>
          <p:cNvSpPr txBox="1"/>
          <p:nvPr/>
        </p:nvSpPr>
        <p:spPr>
          <a:xfrm>
            <a:off x="566928" y="987552"/>
            <a:ext cx="11057839" cy="310896"/>
          </a:xfrm>
          <a:prstGeom prst="rect">
            <a:avLst/>
          </a:prstGeom>
          <a:noFill/>
        </p:spPr>
        <p:txBody>
          <a:bodyPr wrap="square" lIns="0" rIns="0" tIns="0" bIns="0" anchor="t">
            <a:spAutoFit/>
          </a:bodyPr>
          <a:lstStyle/>
          <a:p>
            <a:pPr algn="l">
              <a:spcAft>
                <a:spcPts val="500"/>
              </a:spcAft>
            </a:pPr>
            <a:r>
              <a:rPr sz="1150" b="0" i="0">
                <a:solidFill>
                  <a:srgbClr val="5A6B7A"/>
                </a:solidFill>
                <a:latin typeface="Calibri"/>
              </a:rPr>
              <a:t>What separates this from feeding pairs to a standard network</a:t>
            </a:r>
          </a:p>
        </p:txBody>
      </p:sp>
      <p:sp>
        <p:nvSpPr>
          <p:cNvPr id="4" name="Rectangle 3"/>
          <p:cNvSpPr/>
          <p:nvPr/>
        </p:nvSpPr>
        <p:spPr>
          <a:xfrm>
            <a:off x="566928" y="1371600"/>
            <a:ext cx="11057839" cy="18288"/>
          </a:xfrm>
          <a:prstGeom prst="rect">
            <a:avLst/>
          </a:prstGeom>
          <a:solidFill>
            <a:srgbClr val="D8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566928" y="1627632"/>
            <a:ext cx="5532120" cy="3108960"/>
          </a:xfrm>
          <a:prstGeom prst="roundRect">
            <a:avLst>
              <a:gd name="adj" fmla="val 5000"/>
            </a:avLst>
          </a:prstGeom>
          <a:solidFill>
            <a:srgbClr val="FFFFFF"/>
          </a:solidFill>
          <a:ln w="15875">
            <a:solidFill>
              <a:srgbClr val="007C91"/>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spcAft>
                <a:spcPts val="800"/>
              </a:spcAft>
            </a:pPr>
            <a:r>
              <a:rPr sz="1250" b="1" i="0">
                <a:solidFill>
                  <a:srgbClr val="1A2733"/>
                </a:solidFill>
                <a:latin typeface="Cambria"/>
              </a:rPr>
              <a:t>KEY INNOVATION -- we measured the degradation, we did not guess it</a:t>
            </a:r>
          </a:p>
          <a:p>
            <a:pPr>
              <a:spcAft>
                <a:spcPts val="600"/>
              </a:spcAft>
            </a:pPr>
            <a:r>
              <a:rPr sz="1150">
                <a:solidFill>
                  <a:srgbClr val="1A2733"/>
                </a:solidFill>
                <a:latin typeface="Calibri"/>
              </a:rPr>
              <a:t>•  Most entrants feed the provided pairs to a network. We first recovered the forward model by fitting the residual across all 3200 pairs</a:t>
            </a:r>
          </a:p>
          <a:p>
            <a:pPr>
              <a:spcAft>
                <a:spcPts val="600"/>
              </a:spcAft>
            </a:pPr>
            <a:r>
              <a:rPr sz="1150">
                <a:solidFill>
                  <a:srgbClr val="1A2733"/>
                </a:solidFill>
                <a:latin typeface="Calibri"/>
              </a:rPr>
              <a:t>•  The skew of the residual identifies the noise FAMILY: multiplicative Gaussian is symmetric, Gamma is not. Measured +0.357 against a predicted +0.333 pins it</a:t>
            </a:r>
          </a:p>
          <a:p>
            <a:pPr>
              <a:spcAft>
                <a:spcPts val="600"/>
              </a:spcAft>
            </a:pPr>
            <a:r>
              <a:rPr sz="1150">
                <a:solidFill>
                  <a:srgbClr val="1A2733"/>
                </a:solidFill>
                <a:latin typeface="Calibri"/>
              </a:rPr>
              <a:t>•  That let us synthesise unlimited training pairs matching the true distribution -- sampled from empirical quantile tables, then widened so the tails exceed what was observed</a:t>
            </a:r>
          </a:p>
          <a:p>
            <a:pPr>
              <a:spcAft>
                <a:spcPts val="600"/>
              </a:spcAft>
            </a:pPr>
            <a:r>
              <a:rPr sz="1150">
                <a:solidFill>
                  <a:srgbClr val="1A2733"/>
                </a:solidFill>
                <a:latin typeface="Calibri"/>
              </a:rPr>
              <a:t>•  A first version using assumed ranges was 50% noisier than reality and would have taught the model to over-smooth</a:t>
            </a:r>
          </a:p>
        </p:txBody>
      </p:sp>
      <p:sp>
        <p:nvSpPr>
          <p:cNvPr id="6" name="Rounded Rectangle 5"/>
          <p:cNvSpPr/>
          <p:nvPr/>
        </p:nvSpPr>
        <p:spPr>
          <a:xfrm>
            <a:off x="6373368" y="1627632"/>
            <a:ext cx="5212080" cy="3108960"/>
          </a:xfrm>
          <a:prstGeom prst="roundRect">
            <a:avLst>
              <a:gd name="adj" fmla="val 5000"/>
            </a:avLst>
          </a:prstGeom>
          <a:solidFill>
            <a:srgbClr val="FFFFFF"/>
          </a:solidFill>
          <a:ln w="9525">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spcAft>
                <a:spcPts val="800"/>
              </a:spcAft>
            </a:pPr>
            <a:r>
              <a:rPr sz="1100" b="1" i="0">
                <a:solidFill>
                  <a:srgbClr val="007C91"/>
                </a:solidFill>
                <a:latin typeface="Calibri"/>
              </a:rPr>
              <a:t>COMPETITIVE ADVANTAGE</a:t>
            </a:r>
          </a:p>
          <a:p>
            <a:pPr>
              <a:spcAft>
                <a:spcPts val="600"/>
              </a:spcAft>
            </a:pPr>
            <a:r>
              <a:rPr sz="1150">
                <a:solidFill>
                  <a:srgbClr val="1A2733"/>
                </a:solidFill>
                <a:latin typeface="Calibri"/>
              </a:rPr>
              <a:t>•  Leakage-aware validation: samples are ordered by source image, so a random split leaks near-duplicates. We hold out 10 evenly-spaced contiguous blocks instead</a:t>
            </a:r>
          </a:p>
          <a:p>
            <a:pPr>
              <a:spcAft>
                <a:spcPts val="600"/>
              </a:spcAft>
            </a:pPr>
            <a:r>
              <a:rPr sz="1150">
                <a:solidFill>
                  <a:srgbClr val="1A2733"/>
                </a:solidFill>
                <a:latin typeface="Calibri"/>
              </a:rPr>
              <a:t>•  Every claim is reproducible by one command (python analyze_degradation.py)</a:t>
            </a:r>
          </a:p>
          <a:p>
            <a:pPr>
              <a:spcAft>
                <a:spcPts val="600"/>
              </a:spcAft>
            </a:pPr>
            <a:r>
              <a:rPr sz="1150">
                <a:solidFill>
                  <a:srgbClr val="1A2733"/>
                </a:solidFill>
                <a:latin typeface="Calibri"/>
              </a:rPr>
              <a:t>•  Deliberately no GAN: the brief asks for restoration without hallucinating structure, and invented detail is harmful in a measurement context</a:t>
            </a:r>
          </a:p>
          <a:p>
            <a:pPr>
              <a:spcAft>
                <a:spcPts val="600"/>
              </a:spcAft>
            </a:pPr>
            <a:r>
              <a:rPr sz="1150">
                <a:solidFill>
                  <a:srgbClr val="1A2733"/>
                </a:solidFill>
                <a:latin typeface="Calibri"/>
              </a:rPr>
              <a:t>•  Efficiency treated as a first-class deliverable, not an afterthought</a:t>
            </a:r>
          </a:p>
        </p:txBody>
      </p:sp>
      <p:sp>
        <p:nvSpPr>
          <p:cNvPr id="7" name="TextBox 6"/>
          <p:cNvSpPr txBox="1"/>
          <p:nvPr/>
        </p:nvSpPr>
        <p:spPr>
          <a:xfrm>
            <a:off x="566928" y="5029200"/>
            <a:ext cx="3657600" cy="868680"/>
          </a:xfrm>
          <a:prstGeom prst="rect">
            <a:avLst/>
          </a:prstGeom>
          <a:noFill/>
        </p:spPr>
        <p:txBody>
          <a:bodyPr wrap="square" lIns="0" rIns="0" tIns="0" bIns="0" anchor="t">
            <a:spAutoFit/>
          </a:bodyPr>
          <a:lstStyle/>
          <a:p>
            <a:pPr algn="l">
              <a:spcAft>
                <a:spcPts val="100"/>
              </a:spcAft>
            </a:pPr>
            <a:r>
              <a:rPr sz="2600" b="1" i="0">
                <a:solidFill>
                  <a:srgbClr val="007C91"/>
                </a:solidFill>
                <a:latin typeface="Cambria"/>
              </a:rPr>
              <a:t>+0.357 vs +0.333</a:t>
            </a:r>
          </a:p>
          <a:p>
            <a:pPr>
              <a:spcAft>
                <a:spcPts val="0"/>
              </a:spcAft>
            </a:pPr>
            <a:r>
              <a:rPr sz="1000" b="0" i="0">
                <a:solidFill>
                  <a:srgbClr val="5A6B7A"/>
                </a:solidFill>
                <a:latin typeface="Calibri"/>
              </a:rPr>
              <a:t>measured vs predicted Gamma skew</a:t>
            </a:r>
          </a:p>
        </p:txBody>
      </p:sp>
      <p:sp>
        <p:nvSpPr>
          <p:cNvPr id="8" name="TextBox 7"/>
          <p:cNvSpPr txBox="1"/>
          <p:nvPr/>
        </p:nvSpPr>
        <p:spPr>
          <a:xfrm>
            <a:off x="4407408" y="5029200"/>
            <a:ext cx="3657600" cy="868680"/>
          </a:xfrm>
          <a:prstGeom prst="rect">
            <a:avLst/>
          </a:prstGeom>
          <a:noFill/>
        </p:spPr>
        <p:txBody>
          <a:bodyPr wrap="square" lIns="0" rIns="0" tIns="0" bIns="0" anchor="t">
            <a:spAutoFit/>
          </a:bodyPr>
          <a:lstStyle/>
          <a:p>
            <a:pPr algn="l">
              <a:spcAft>
                <a:spcPts val="100"/>
              </a:spcAft>
            </a:pPr>
            <a:r>
              <a:rPr sz="2600" b="1" i="0">
                <a:solidFill>
                  <a:srgbClr val="007C91"/>
                </a:solidFill>
                <a:latin typeface="Cambria"/>
              </a:rPr>
              <a:t>0.68 M</a:t>
            </a:r>
          </a:p>
          <a:p>
            <a:pPr>
              <a:spcAft>
                <a:spcPts val="0"/>
              </a:spcAft>
            </a:pPr>
            <a:r>
              <a:rPr sz="1000" b="0" i="0">
                <a:solidFill>
                  <a:srgbClr val="5A6B7A"/>
                </a:solidFill>
                <a:latin typeface="Calibri"/>
              </a:rPr>
              <a:t>parameters</a:t>
            </a:r>
          </a:p>
        </p:txBody>
      </p:sp>
      <p:sp>
        <p:nvSpPr>
          <p:cNvPr id="9" name="TextBox 8"/>
          <p:cNvSpPr txBox="1"/>
          <p:nvPr/>
        </p:nvSpPr>
        <p:spPr>
          <a:xfrm>
            <a:off x="8247888" y="5029200"/>
            <a:ext cx="3291840" cy="868680"/>
          </a:xfrm>
          <a:prstGeom prst="rect">
            <a:avLst/>
          </a:prstGeom>
          <a:noFill/>
        </p:spPr>
        <p:txBody>
          <a:bodyPr wrap="square" lIns="0" rIns="0" tIns="0" bIns="0" anchor="t">
            <a:spAutoFit/>
          </a:bodyPr>
          <a:lstStyle/>
          <a:p>
            <a:pPr algn="l">
              <a:spcAft>
                <a:spcPts val="100"/>
              </a:spcAft>
            </a:pPr>
            <a:r>
              <a:rPr sz="2600" b="1" i="0">
                <a:solidFill>
                  <a:srgbClr val="007C91"/>
                </a:solidFill>
                <a:latin typeface="Cambria"/>
              </a:rPr>
              <a:t>1 command</a:t>
            </a:r>
          </a:p>
          <a:p>
            <a:pPr>
              <a:spcAft>
                <a:spcPts val="0"/>
              </a:spcAft>
            </a:pPr>
            <a:r>
              <a:rPr sz="1000" b="0" i="0">
                <a:solidFill>
                  <a:srgbClr val="5A6B7A"/>
                </a:solidFill>
                <a:latin typeface="Calibri"/>
              </a:rPr>
              <a:t>regenerates the analysis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66928" y="384048"/>
            <a:ext cx="11057839" cy="566928"/>
          </a:xfrm>
          <a:prstGeom prst="rect">
            <a:avLst/>
          </a:prstGeom>
          <a:noFill/>
        </p:spPr>
        <p:txBody>
          <a:bodyPr wrap="square" lIns="0" rIns="0" tIns="0" bIns="0" anchor="t">
            <a:spAutoFit/>
          </a:bodyPr>
          <a:lstStyle/>
          <a:p>
            <a:pPr algn="l">
              <a:spcAft>
                <a:spcPts val="200"/>
              </a:spcAft>
            </a:pPr>
            <a:r>
              <a:rPr sz="2600" b="1" i="0">
                <a:solidFill>
                  <a:srgbClr val="1A2733"/>
                </a:solidFill>
                <a:latin typeface="Cambria"/>
              </a:rPr>
              <a:t>Impact and Benefits</a:t>
            </a:r>
          </a:p>
        </p:txBody>
      </p:sp>
      <p:sp>
        <p:nvSpPr>
          <p:cNvPr id="3" name="TextBox 2"/>
          <p:cNvSpPr txBox="1"/>
          <p:nvPr/>
        </p:nvSpPr>
        <p:spPr>
          <a:xfrm>
            <a:off x="566928" y="987552"/>
            <a:ext cx="11057839" cy="310896"/>
          </a:xfrm>
          <a:prstGeom prst="rect">
            <a:avLst/>
          </a:prstGeom>
          <a:noFill/>
        </p:spPr>
        <p:txBody>
          <a:bodyPr wrap="square" lIns="0" rIns="0" tIns="0" bIns="0" anchor="t">
            <a:spAutoFit/>
          </a:bodyPr>
          <a:lstStyle/>
          <a:p>
            <a:pPr algn="l">
              <a:spcAft>
                <a:spcPts val="500"/>
              </a:spcAft>
            </a:pPr>
            <a:r>
              <a:rPr sz="1150" b="0" i="0">
                <a:solidFill>
                  <a:srgbClr val="5A6B7A"/>
                </a:solidFill>
                <a:latin typeface="Calibri"/>
              </a:rPr>
              <a:t>Measured on a 320-image held-out split, never seen in training</a:t>
            </a:r>
          </a:p>
        </p:txBody>
      </p:sp>
      <p:sp>
        <p:nvSpPr>
          <p:cNvPr id="4" name="Rectangle 3"/>
          <p:cNvSpPr/>
          <p:nvPr/>
        </p:nvSpPr>
        <p:spPr>
          <a:xfrm>
            <a:off x="566928" y="1371600"/>
            <a:ext cx="11057839" cy="18288"/>
          </a:xfrm>
          <a:prstGeom prst="rect">
            <a:avLst/>
          </a:prstGeom>
          <a:solidFill>
            <a:srgbClr val="D8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566928" y="1691640"/>
            <a:ext cx="2834640" cy="402336"/>
          </a:xfrm>
          <a:prstGeom prst="rect">
            <a:avLst/>
          </a:prstGeom>
          <a:solidFill>
            <a:srgbClr val="0B1B2B"/>
          </a:solidFill>
          <a:ln w="6350">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94944" y="1755648"/>
            <a:ext cx="2651760" cy="329184"/>
          </a:xfrm>
          <a:prstGeom prst="rect">
            <a:avLst/>
          </a:prstGeom>
          <a:noFill/>
        </p:spPr>
        <p:txBody>
          <a:bodyPr wrap="square" lIns="0" rIns="0" tIns="0" bIns="0" anchor="ctr">
            <a:spAutoFit/>
          </a:bodyPr>
          <a:lstStyle/>
          <a:p>
            <a:pPr algn="l">
              <a:spcAft>
                <a:spcPts val="0"/>
              </a:spcAft>
            </a:pPr>
            <a:r>
              <a:rPr sz="1200" b="1" i="0">
                <a:solidFill>
                  <a:srgbClr val="FFFFFF"/>
                </a:solidFill>
                <a:latin typeface="Calibri"/>
              </a:rPr>
              <a:t>Metric</a:t>
            </a:r>
          </a:p>
        </p:txBody>
      </p:sp>
      <p:sp>
        <p:nvSpPr>
          <p:cNvPr id="7" name="Rectangle 6"/>
          <p:cNvSpPr/>
          <p:nvPr/>
        </p:nvSpPr>
        <p:spPr>
          <a:xfrm>
            <a:off x="3401568" y="1691640"/>
            <a:ext cx="2651760" cy="402336"/>
          </a:xfrm>
          <a:prstGeom prst="rect">
            <a:avLst/>
          </a:prstGeom>
          <a:solidFill>
            <a:srgbClr val="0B1B2B"/>
          </a:solidFill>
          <a:ln w="6350">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529584" y="1755648"/>
            <a:ext cx="2468879" cy="329184"/>
          </a:xfrm>
          <a:prstGeom prst="rect">
            <a:avLst/>
          </a:prstGeom>
          <a:noFill/>
        </p:spPr>
        <p:txBody>
          <a:bodyPr wrap="square" lIns="0" rIns="0" tIns="0" bIns="0" anchor="ctr">
            <a:spAutoFit/>
          </a:bodyPr>
          <a:lstStyle/>
          <a:p>
            <a:pPr algn="l">
              <a:spcAft>
                <a:spcPts val="0"/>
              </a:spcAft>
            </a:pPr>
            <a:r>
              <a:rPr sz="1200" b="1" i="0">
                <a:solidFill>
                  <a:srgbClr val="FFFFFF"/>
                </a:solidFill>
                <a:latin typeface="Calibri"/>
              </a:rPr>
              <a:t>Bicubic baseline</a:t>
            </a:r>
          </a:p>
        </p:txBody>
      </p:sp>
      <p:sp>
        <p:nvSpPr>
          <p:cNvPr id="9" name="Rectangle 8"/>
          <p:cNvSpPr/>
          <p:nvPr/>
        </p:nvSpPr>
        <p:spPr>
          <a:xfrm>
            <a:off x="6053328" y="1691640"/>
            <a:ext cx="2651760" cy="402336"/>
          </a:xfrm>
          <a:prstGeom prst="rect">
            <a:avLst/>
          </a:prstGeom>
          <a:solidFill>
            <a:srgbClr val="0B1B2B"/>
          </a:solidFill>
          <a:ln w="6350">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181344" y="1755648"/>
            <a:ext cx="2468879" cy="329184"/>
          </a:xfrm>
          <a:prstGeom prst="rect">
            <a:avLst/>
          </a:prstGeom>
          <a:noFill/>
        </p:spPr>
        <p:txBody>
          <a:bodyPr wrap="square" lIns="0" rIns="0" tIns="0" bIns="0" anchor="ctr">
            <a:spAutoFit/>
          </a:bodyPr>
          <a:lstStyle/>
          <a:p>
            <a:pPr algn="l">
              <a:spcAft>
                <a:spcPts val="0"/>
              </a:spcAft>
            </a:pPr>
            <a:r>
              <a:rPr sz="1200" b="1" i="0">
                <a:solidFill>
                  <a:srgbClr val="FFFFFF"/>
                </a:solidFill>
                <a:latin typeface="Calibri"/>
              </a:rPr>
              <a:t>This solution</a:t>
            </a:r>
          </a:p>
        </p:txBody>
      </p:sp>
      <p:sp>
        <p:nvSpPr>
          <p:cNvPr id="11" name="Rectangle 10"/>
          <p:cNvSpPr/>
          <p:nvPr/>
        </p:nvSpPr>
        <p:spPr>
          <a:xfrm>
            <a:off x="8705088" y="1691640"/>
            <a:ext cx="2926080" cy="402336"/>
          </a:xfrm>
          <a:prstGeom prst="rect">
            <a:avLst/>
          </a:prstGeom>
          <a:solidFill>
            <a:srgbClr val="0B1B2B"/>
          </a:solidFill>
          <a:ln w="6350">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833104" y="1755648"/>
            <a:ext cx="2743200" cy="329184"/>
          </a:xfrm>
          <a:prstGeom prst="rect">
            <a:avLst/>
          </a:prstGeom>
          <a:noFill/>
        </p:spPr>
        <p:txBody>
          <a:bodyPr wrap="square" lIns="0" rIns="0" tIns="0" bIns="0" anchor="ctr">
            <a:spAutoFit/>
          </a:bodyPr>
          <a:lstStyle/>
          <a:p>
            <a:pPr algn="l">
              <a:spcAft>
                <a:spcPts val="0"/>
              </a:spcAft>
            </a:pPr>
            <a:r>
              <a:rPr sz="1200" b="1" i="0">
                <a:solidFill>
                  <a:srgbClr val="FFFFFF"/>
                </a:solidFill>
                <a:latin typeface="Calibri"/>
              </a:rPr>
              <a:t>Improvement</a:t>
            </a:r>
          </a:p>
        </p:txBody>
      </p:sp>
      <p:sp>
        <p:nvSpPr>
          <p:cNvPr id="13" name="Rectangle 12"/>
          <p:cNvSpPr/>
          <p:nvPr/>
        </p:nvSpPr>
        <p:spPr>
          <a:xfrm>
            <a:off x="566928" y="2093976"/>
            <a:ext cx="2834640" cy="402336"/>
          </a:xfrm>
          <a:prstGeom prst="rect">
            <a:avLst/>
          </a:prstGeom>
          <a:solidFill>
            <a:srgbClr val="EFF3F6"/>
          </a:solidFill>
          <a:ln w="6350">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94944" y="2157984"/>
            <a:ext cx="2651760" cy="329184"/>
          </a:xfrm>
          <a:prstGeom prst="rect">
            <a:avLst/>
          </a:prstGeom>
          <a:noFill/>
        </p:spPr>
        <p:txBody>
          <a:bodyPr wrap="square" lIns="0" rIns="0" tIns="0" bIns="0" anchor="ctr">
            <a:spAutoFit/>
          </a:bodyPr>
          <a:lstStyle/>
          <a:p>
            <a:pPr algn="l">
              <a:spcAft>
                <a:spcPts val="0"/>
              </a:spcAft>
            </a:pPr>
            <a:r>
              <a:rPr sz="1200" b="0" i="0">
                <a:solidFill>
                  <a:srgbClr val="1A2733"/>
                </a:solidFill>
                <a:latin typeface="Calibri"/>
              </a:rPr>
              <a:t>PSNR</a:t>
            </a:r>
          </a:p>
        </p:txBody>
      </p:sp>
      <p:sp>
        <p:nvSpPr>
          <p:cNvPr id="15" name="Rectangle 14"/>
          <p:cNvSpPr/>
          <p:nvPr/>
        </p:nvSpPr>
        <p:spPr>
          <a:xfrm>
            <a:off x="3401568" y="2093976"/>
            <a:ext cx="2651760" cy="402336"/>
          </a:xfrm>
          <a:prstGeom prst="rect">
            <a:avLst/>
          </a:prstGeom>
          <a:solidFill>
            <a:srgbClr val="EFF3F6"/>
          </a:solidFill>
          <a:ln w="6350">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29584" y="2157984"/>
            <a:ext cx="2468879" cy="329184"/>
          </a:xfrm>
          <a:prstGeom prst="rect">
            <a:avLst/>
          </a:prstGeom>
          <a:noFill/>
        </p:spPr>
        <p:txBody>
          <a:bodyPr wrap="square" lIns="0" rIns="0" tIns="0" bIns="0" anchor="ctr">
            <a:spAutoFit/>
          </a:bodyPr>
          <a:lstStyle/>
          <a:p>
            <a:pPr algn="l">
              <a:spcAft>
                <a:spcPts val="0"/>
              </a:spcAft>
            </a:pPr>
            <a:r>
              <a:rPr sz="1200" b="0" i="0">
                <a:solidFill>
                  <a:srgbClr val="1A2733"/>
                </a:solidFill>
                <a:latin typeface="Calibri"/>
              </a:rPr>
              <a:t>22.94 dB</a:t>
            </a:r>
          </a:p>
        </p:txBody>
      </p:sp>
      <p:sp>
        <p:nvSpPr>
          <p:cNvPr id="17" name="Rectangle 16"/>
          <p:cNvSpPr/>
          <p:nvPr/>
        </p:nvSpPr>
        <p:spPr>
          <a:xfrm>
            <a:off x="6053328" y="2093976"/>
            <a:ext cx="2651760" cy="402336"/>
          </a:xfrm>
          <a:prstGeom prst="rect">
            <a:avLst/>
          </a:prstGeom>
          <a:solidFill>
            <a:srgbClr val="EFF3F6"/>
          </a:solidFill>
          <a:ln w="6350">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181344" y="2157984"/>
            <a:ext cx="2468879" cy="329184"/>
          </a:xfrm>
          <a:prstGeom prst="rect">
            <a:avLst/>
          </a:prstGeom>
          <a:noFill/>
        </p:spPr>
        <p:txBody>
          <a:bodyPr wrap="square" lIns="0" rIns="0" tIns="0" bIns="0" anchor="ctr">
            <a:spAutoFit/>
          </a:bodyPr>
          <a:lstStyle/>
          <a:p>
            <a:pPr algn="l">
              <a:spcAft>
                <a:spcPts val="0"/>
              </a:spcAft>
            </a:pPr>
            <a:r>
              <a:rPr sz="1200" b="1" i="0">
                <a:solidFill>
                  <a:srgbClr val="007C91"/>
                </a:solidFill>
                <a:latin typeface="Calibri"/>
              </a:rPr>
              <a:t>27.54 dB</a:t>
            </a:r>
          </a:p>
        </p:txBody>
      </p:sp>
      <p:sp>
        <p:nvSpPr>
          <p:cNvPr id="19" name="Rectangle 18"/>
          <p:cNvSpPr/>
          <p:nvPr/>
        </p:nvSpPr>
        <p:spPr>
          <a:xfrm>
            <a:off x="8705088" y="2093976"/>
            <a:ext cx="2926080" cy="402336"/>
          </a:xfrm>
          <a:prstGeom prst="rect">
            <a:avLst/>
          </a:prstGeom>
          <a:solidFill>
            <a:srgbClr val="EFF3F6"/>
          </a:solidFill>
          <a:ln w="6350">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833104" y="2157984"/>
            <a:ext cx="2743200" cy="329184"/>
          </a:xfrm>
          <a:prstGeom prst="rect">
            <a:avLst/>
          </a:prstGeom>
          <a:noFill/>
        </p:spPr>
        <p:txBody>
          <a:bodyPr wrap="square" lIns="0" rIns="0" tIns="0" bIns="0" anchor="ctr">
            <a:spAutoFit/>
          </a:bodyPr>
          <a:lstStyle/>
          <a:p>
            <a:pPr algn="l">
              <a:spcAft>
                <a:spcPts val="0"/>
              </a:spcAft>
            </a:pPr>
            <a:r>
              <a:rPr sz="1200" b="0" i="0">
                <a:solidFill>
                  <a:srgbClr val="1A2733"/>
                </a:solidFill>
                <a:latin typeface="Calibri"/>
              </a:rPr>
              <a:t>+4.60 dB</a:t>
            </a:r>
          </a:p>
        </p:txBody>
      </p:sp>
      <p:sp>
        <p:nvSpPr>
          <p:cNvPr id="21" name="Rectangle 20"/>
          <p:cNvSpPr/>
          <p:nvPr/>
        </p:nvSpPr>
        <p:spPr>
          <a:xfrm>
            <a:off x="566928" y="2496312"/>
            <a:ext cx="2834640" cy="402336"/>
          </a:xfrm>
          <a:prstGeom prst="rect">
            <a:avLst/>
          </a:prstGeom>
          <a:solidFill>
            <a:srgbClr val="FFFFFF"/>
          </a:solidFill>
          <a:ln w="6350">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2560320"/>
            <a:ext cx="2651760" cy="329184"/>
          </a:xfrm>
          <a:prstGeom prst="rect">
            <a:avLst/>
          </a:prstGeom>
          <a:noFill/>
        </p:spPr>
        <p:txBody>
          <a:bodyPr wrap="square" lIns="0" rIns="0" tIns="0" bIns="0" anchor="ctr">
            <a:spAutoFit/>
          </a:bodyPr>
          <a:lstStyle/>
          <a:p>
            <a:pPr algn="l">
              <a:spcAft>
                <a:spcPts val="0"/>
              </a:spcAft>
            </a:pPr>
            <a:r>
              <a:rPr sz="1200" b="0" i="0">
                <a:solidFill>
                  <a:srgbClr val="1A2733"/>
                </a:solidFill>
                <a:latin typeface="Calibri"/>
              </a:rPr>
              <a:t>SSIM</a:t>
            </a:r>
          </a:p>
        </p:txBody>
      </p:sp>
      <p:sp>
        <p:nvSpPr>
          <p:cNvPr id="23" name="Rectangle 22"/>
          <p:cNvSpPr/>
          <p:nvPr/>
        </p:nvSpPr>
        <p:spPr>
          <a:xfrm>
            <a:off x="3401568" y="2496312"/>
            <a:ext cx="2651760" cy="402336"/>
          </a:xfrm>
          <a:prstGeom prst="rect">
            <a:avLst/>
          </a:prstGeom>
          <a:solidFill>
            <a:srgbClr val="FFFFFF"/>
          </a:solidFill>
          <a:ln w="6350">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3529584" y="2560320"/>
            <a:ext cx="2468879" cy="329184"/>
          </a:xfrm>
          <a:prstGeom prst="rect">
            <a:avLst/>
          </a:prstGeom>
          <a:noFill/>
        </p:spPr>
        <p:txBody>
          <a:bodyPr wrap="square" lIns="0" rIns="0" tIns="0" bIns="0" anchor="ctr">
            <a:spAutoFit/>
          </a:bodyPr>
          <a:lstStyle/>
          <a:p>
            <a:pPr algn="l">
              <a:spcAft>
                <a:spcPts val="0"/>
              </a:spcAft>
            </a:pPr>
            <a:r>
              <a:rPr sz="1200" b="0" i="0">
                <a:solidFill>
                  <a:srgbClr val="1A2733"/>
                </a:solidFill>
                <a:latin typeface="Calibri"/>
              </a:rPr>
              <a:t>0.5460</a:t>
            </a:r>
          </a:p>
        </p:txBody>
      </p:sp>
      <p:sp>
        <p:nvSpPr>
          <p:cNvPr id="25" name="Rectangle 24"/>
          <p:cNvSpPr/>
          <p:nvPr/>
        </p:nvSpPr>
        <p:spPr>
          <a:xfrm>
            <a:off x="6053328" y="2496312"/>
            <a:ext cx="2651760" cy="402336"/>
          </a:xfrm>
          <a:prstGeom prst="rect">
            <a:avLst/>
          </a:prstGeom>
          <a:solidFill>
            <a:srgbClr val="FFFFFF"/>
          </a:solidFill>
          <a:ln w="6350">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181344" y="2560320"/>
            <a:ext cx="2468879" cy="329184"/>
          </a:xfrm>
          <a:prstGeom prst="rect">
            <a:avLst/>
          </a:prstGeom>
          <a:noFill/>
        </p:spPr>
        <p:txBody>
          <a:bodyPr wrap="square" lIns="0" rIns="0" tIns="0" bIns="0" anchor="ctr">
            <a:spAutoFit/>
          </a:bodyPr>
          <a:lstStyle/>
          <a:p>
            <a:pPr algn="l">
              <a:spcAft>
                <a:spcPts val="0"/>
              </a:spcAft>
            </a:pPr>
            <a:r>
              <a:rPr sz="1200" b="1" i="0">
                <a:solidFill>
                  <a:srgbClr val="007C91"/>
                </a:solidFill>
                <a:latin typeface="Calibri"/>
              </a:rPr>
              <a:t>0.7594</a:t>
            </a:r>
          </a:p>
        </p:txBody>
      </p:sp>
      <p:sp>
        <p:nvSpPr>
          <p:cNvPr id="27" name="Rectangle 26"/>
          <p:cNvSpPr/>
          <p:nvPr/>
        </p:nvSpPr>
        <p:spPr>
          <a:xfrm>
            <a:off x="8705088" y="2496312"/>
            <a:ext cx="2926080" cy="402336"/>
          </a:xfrm>
          <a:prstGeom prst="rect">
            <a:avLst/>
          </a:prstGeom>
          <a:solidFill>
            <a:srgbClr val="FFFFFF"/>
          </a:solidFill>
          <a:ln w="6350">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833104" y="2560320"/>
            <a:ext cx="2743200" cy="329184"/>
          </a:xfrm>
          <a:prstGeom prst="rect">
            <a:avLst/>
          </a:prstGeom>
          <a:noFill/>
        </p:spPr>
        <p:txBody>
          <a:bodyPr wrap="square" lIns="0" rIns="0" tIns="0" bIns="0" anchor="ctr">
            <a:spAutoFit/>
          </a:bodyPr>
          <a:lstStyle/>
          <a:p>
            <a:pPr algn="l">
              <a:spcAft>
                <a:spcPts val="0"/>
              </a:spcAft>
            </a:pPr>
            <a:r>
              <a:rPr sz="1200" b="0" i="0">
                <a:solidFill>
                  <a:srgbClr val="1A2733"/>
                </a:solidFill>
                <a:latin typeface="Calibri"/>
              </a:rPr>
              <a:t>+39%</a:t>
            </a:r>
          </a:p>
        </p:txBody>
      </p:sp>
      <p:sp>
        <p:nvSpPr>
          <p:cNvPr id="29" name="Rectangle 28"/>
          <p:cNvSpPr/>
          <p:nvPr/>
        </p:nvSpPr>
        <p:spPr>
          <a:xfrm>
            <a:off x="566928" y="2898648"/>
            <a:ext cx="2834640" cy="402336"/>
          </a:xfrm>
          <a:prstGeom prst="rect">
            <a:avLst/>
          </a:prstGeom>
          <a:solidFill>
            <a:srgbClr val="EFF3F6"/>
          </a:solidFill>
          <a:ln w="6350">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94944" y="2962656"/>
            <a:ext cx="2651760" cy="329184"/>
          </a:xfrm>
          <a:prstGeom prst="rect">
            <a:avLst/>
          </a:prstGeom>
          <a:noFill/>
        </p:spPr>
        <p:txBody>
          <a:bodyPr wrap="square" lIns="0" rIns="0" tIns="0" bIns="0" anchor="ctr">
            <a:spAutoFit/>
          </a:bodyPr>
          <a:lstStyle/>
          <a:p>
            <a:pPr algn="l">
              <a:spcAft>
                <a:spcPts val="0"/>
              </a:spcAft>
            </a:pPr>
            <a:r>
              <a:rPr sz="1200" b="0" i="0">
                <a:solidFill>
                  <a:srgbClr val="1A2733"/>
                </a:solidFill>
                <a:latin typeface="Calibri"/>
              </a:rPr>
              <a:t>LPIPS (lower better)</a:t>
            </a:r>
          </a:p>
        </p:txBody>
      </p:sp>
      <p:sp>
        <p:nvSpPr>
          <p:cNvPr id="31" name="Rectangle 30"/>
          <p:cNvSpPr/>
          <p:nvPr/>
        </p:nvSpPr>
        <p:spPr>
          <a:xfrm>
            <a:off x="3401568" y="2898648"/>
            <a:ext cx="2651760" cy="402336"/>
          </a:xfrm>
          <a:prstGeom prst="rect">
            <a:avLst/>
          </a:prstGeom>
          <a:solidFill>
            <a:srgbClr val="EFF3F6"/>
          </a:solidFill>
          <a:ln w="6350">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529584" y="2962656"/>
            <a:ext cx="2468879" cy="329184"/>
          </a:xfrm>
          <a:prstGeom prst="rect">
            <a:avLst/>
          </a:prstGeom>
          <a:noFill/>
        </p:spPr>
        <p:txBody>
          <a:bodyPr wrap="square" lIns="0" rIns="0" tIns="0" bIns="0" anchor="ctr">
            <a:spAutoFit/>
          </a:bodyPr>
          <a:lstStyle/>
          <a:p>
            <a:pPr algn="l">
              <a:spcAft>
                <a:spcPts val="0"/>
              </a:spcAft>
            </a:pPr>
            <a:r>
              <a:rPr sz="1200" b="0" i="0">
                <a:solidFill>
                  <a:srgbClr val="1A2733"/>
                </a:solidFill>
                <a:latin typeface="Calibri"/>
              </a:rPr>
              <a:t>0.4478</a:t>
            </a:r>
          </a:p>
        </p:txBody>
      </p:sp>
      <p:sp>
        <p:nvSpPr>
          <p:cNvPr id="33" name="Rectangle 32"/>
          <p:cNvSpPr/>
          <p:nvPr/>
        </p:nvSpPr>
        <p:spPr>
          <a:xfrm>
            <a:off x="6053328" y="2898648"/>
            <a:ext cx="2651760" cy="402336"/>
          </a:xfrm>
          <a:prstGeom prst="rect">
            <a:avLst/>
          </a:prstGeom>
          <a:solidFill>
            <a:srgbClr val="EFF3F6"/>
          </a:solidFill>
          <a:ln w="6350">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181344" y="2962656"/>
            <a:ext cx="2468879" cy="329184"/>
          </a:xfrm>
          <a:prstGeom prst="rect">
            <a:avLst/>
          </a:prstGeom>
          <a:noFill/>
        </p:spPr>
        <p:txBody>
          <a:bodyPr wrap="square" lIns="0" rIns="0" tIns="0" bIns="0" anchor="ctr">
            <a:spAutoFit/>
          </a:bodyPr>
          <a:lstStyle/>
          <a:p>
            <a:pPr algn="l">
              <a:spcAft>
                <a:spcPts val="0"/>
              </a:spcAft>
            </a:pPr>
            <a:r>
              <a:rPr sz="1200" b="1" i="0">
                <a:solidFill>
                  <a:srgbClr val="007C91"/>
                </a:solidFill>
                <a:latin typeface="Calibri"/>
              </a:rPr>
              <a:t>0.3922</a:t>
            </a:r>
          </a:p>
        </p:txBody>
      </p:sp>
      <p:sp>
        <p:nvSpPr>
          <p:cNvPr id="35" name="Rectangle 34"/>
          <p:cNvSpPr/>
          <p:nvPr/>
        </p:nvSpPr>
        <p:spPr>
          <a:xfrm>
            <a:off x="8705088" y="2898648"/>
            <a:ext cx="2926080" cy="402336"/>
          </a:xfrm>
          <a:prstGeom prst="rect">
            <a:avLst/>
          </a:prstGeom>
          <a:solidFill>
            <a:srgbClr val="EFF3F6"/>
          </a:solidFill>
          <a:ln w="6350">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8833104" y="2962656"/>
            <a:ext cx="2743200" cy="329184"/>
          </a:xfrm>
          <a:prstGeom prst="rect">
            <a:avLst/>
          </a:prstGeom>
          <a:noFill/>
        </p:spPr>
        <p:txBody>
          <a:bodyPr wrap="square" lIns="0" rIns="0" tIns="0" bIns="0" anchor="ctr">
            <a:spAutoFit/>
          </a:bodyPr>
          <a:lstStyle/>
          <a:p>
            <a:pPr algn="l">
              <a:spcAft>
                <a:spcPts val="0"/>
              </a:spcAft>
            </a:pPr>
            <a:r>
              <a:rPr sz="1200" b="0" i="0">
                <a:solidFill>
                  <a:srgbClr val="1A2733"/>
                </a:solidFill>
                <a:latin typeface="Calibri"/>
              </a:rPr>
              <a:t>-12%</a:t>
            </a:r>
          </a:p>
        </p:txBody>
      </p:sp>
      <p:sp>
        <p:nvSpPr>
          <p:cNvPr id="37" name="Rounded Rectangle 36"/>
          <p:cNvSpPr/>
          <p:nvPr/>
        </p:nvSpPr>
        <p:spPr>
          <a:xfrm>
            <a:off x="566928" y="3429000"/>
            <a:ext cx="5532120" cy="1828800"/>
          </a:xfrm>
          <a:prstGeom prst="roundRect">
            <a:avLst>
              <a:gd name="adj" fmla="val 5000"/>
            </a:avLst>
          </a:prstGeom>
          <a:solidFill>
            <a:srgbClr val="FFFFFF"/>
          </a:solidFill>
          <a:ln w="15875">
            <a:solidFill>
              <a:srgbClr val="007C91"/>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spcAft>
                <a:spcPts val="700"/>
              </a:spcAft>
            </a:pPr>
            <a:r>
              <a:rPr sz="1100" b="1" i="0">
                <a:solidFill>
                  <a:srgbClr val="007C91"/>
                </a:solidFill>
                <a:latin typeface="Calibri"/>
              </a:rPr>
              <a:t>PRIMARY IMPACT</a:t>
            </a:r>
          </a:p>
          <a:p>
            <a:pPr>
              <a:spcAft>
                <a:spcPts val="600"/>
              </a:spcAft>
            </a:pPr>
            <a:r>
              <a:rPr sz="1150">
                <a:solidFill>
                  <a:srgbClr val="1A2733"/>
                </a:solidFill>
                <a:latin typeface="Calibri"/>
              </a:rPr>
              <a:t>•  Improves on ALL THREE scored axes at once -- perceptual metrics often move against PSNR, and here they do not</a:t>
            </a:r>
          </a:p>
          <a:p>
            <a:pPr>
              <a:spcAft>
                <a:spcPts val="600"/>
              </a:spcAft>
            </a:pPr>
            <a:r>
              <a:rPr sz="1150">
                <a:solidFill>
                  <a:srgbClr val="1A2733"/>
                </a:solidFill>
                <a:latin typeface="Calibri"/>
              </a:rPr>
              <a:t>•  Recovers detail lost to downsampling without inventing structure, which is what a measurement pipeline requires</a:t>
            </a:r>
          </a:p>
        </p:txBody>
      </p:sp>
      <p:sp>
        <p:nvSpPr>
          <p:cNvPr id="38" name="Rounded Rectangle 37"/>
          <p:cNvSpPr/>
          <p:nvPr/>
        </p:nvSpPr>
        <p:spPr>
          <a:xfrm>
            <a:off x="6373368" y="3429000"/>
            <a:ext cx="5212080" cy="1828800"/>
          </a:xfrm>
          <a:prstGeom prst="roundRect">
            <a:avLst>
              <a:gd name="adj" fmla="val 5000"/>
            </a:avLst>
          </a:prstGeom>
          <a:solidFill>
            <a:srgbClr val="FFFFFF"/>
          </a:solidFill>
          <a:ln w="9525">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spcAft>
                <a:spcPts val="700"/>
              </a:spcAft>
            </a:pPr>
            <a:r>
              <a:rPr sz="1100" b="1" i="0">
                <a:solidFill>
                  <a:srgbClr val="007C91"/>
                </a:solidFill>
                <a:latin typeface="Calibri"/>
              </a:rPr>
              <a:t>QUANTIFIABLE OUTCOMES</a:t>
            </a:r>
          </a:p>
          <a:p>
            <a:pPr>
              <a:spcAft>
                <a:spcPts val="600"/>
              </a:spcAft>
            </a:pPr>
            <a:r>
              <a:rPr sz="1150">
                <a:solidFill>
                  <a:srgbClr val="1A2733"/>
                </a:solidFill>
                <a:latin typeface="Calibri"/>
              </a:rPr>
              <a:t>•  End-to-end inference: 46 images/second (21.7 ms each) on an NVIDIA T4</a:t>
            </a:r>
          </a:p>
          <a:p>
            <a:pPr>
              <a:spcAft>
                <a:spcPts val="600"/>
              </a:spcAft>
            </a:pPr>
            <a:r>
              <a:rPr sz="1150">
                <a:solidFill>
                  <a:srgbClr val="1A2733"/>
                </a:solidFill>
                <a:latin typeface="Calibri"/>
              </a:rPr>
              <a:t>•  2.79 MB checkpoint -- deployable anywhere, no external downloads</a:t>
            </a:r>
          </a:p>
          <a:p>
            <a:pPr>
              <a:spcAft>
                <a:spcPts val="600"/>
              </a:spcAft>
            </a:pPr>
            <a:r>
              <a:rPr sz="1150">
                <a:solidFill>
                  <a:srgbClr val="1A2733"/>
                </a:solidFill>
                <a:latin typeface="Calibri"/>
              </a:rPr>
              <a:t>•  Same weights serve both 128-&gt;256 and 256-&gt;512 inputs</a:t>
            </a:r>
          </a:p>
        </p:txBody>
      </p:sp>
      <p:sp>
        <p:nvSpPr>
          <p:cNvPr id="39" name="TextBox 38"/>
          <p:cNvSpPr txBox="1"/>
          <p:nvPr/>
        </p:nvSpPr>
        <p:spPr>
          <a:xfrm>
            <a:off x="566928" y="5440680"/>
            <a:ext cx="11057839" cy="457200"/>
          </a:xfrm>
          <a:prstGeom prst="rect">
            <a:avLst/>
          </a:prstGeom>
          <a:noFill/>
        </p:spPr>
        <p:txBody>
          <a:bodyPr wrap="square" lIns="0" rIns="0" tIns="0" bIns="0" anchor="t">
            <a:spAutoFit/>
          </a:bodyPr>
          <a:lstStyle/>
          <a:p>
            <a:pPr algn="l">
              <a:spcAft>
                <a:spcPts val="500"/>
              </a:spcAft>
            </a:pPr>
            <a:r>
              <a:rPr sz="1050" b="0" i="1">
                <a:solidFill>
                  <a:srgbClr val="5A6B7A"/>
                </a:solidFill>
                <a:latin typeface="Calibri"/>
              </a:rPr>
              <a:t>Honest limitation: training stopped at step 7500, short of convergence, so the model has not yet passed the denoise-then-interpolate ceiling of 32.25 dB. The cause was input-pipeline throughput, and it is the first thing we would fix.</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66928" y="384048"/>
            <a:ext cx="11057839" cy="566928"/>
          </a:xfrm>
          <a:prstGeom prst="rect">
            <a:avLst/>
          </a:prstGeom>
          <a:noFill/>
        </p:spPr>
        <p:txBody>
          <a:bodyPr wrap="square" lIns="0" rIns="0" tIns="0" bIns="0" anchor="t">
            <a:spAutoFit/>
          </a:bodyPr>
          <a:lstStyle/>
          <a:p>
            <a:pPr algn="l">
              <a:spcAft>
                <a:spcPts val="200"/>
              </a:spcAft>
            </a:pPr>
            <a:r>
              <a:rPr sz="2600" b="1" i="0">
                <a:solidFill>
                  <a:srgbClr val="1A2733"/>
                </a:solidFill>
                <a:latin typeface="Cambria"/>
              </a:rPr>
              <a:t>Technology, Feasibility and Methodology</a:t>
            </a:r>
          </a:p>
        </p:txBody>
      </p:sp>
      <p:sp>
        <p:nvSpPr>
          <p:cNvPr id="3" name="TextBox 2"/>
          <p:cNvSpPr txBox="1"/>
          <p:nvPr/>
        </p:nvSpPr>
        <p:spPr>
          <a:xfrm>
            <a:off x="566928" y="987552"/>
            <a:ext cx="11057839" cy="310896"/>
          </a:xfrm>
          <a:prstGeom prst="rect">
            <a:avLst/>
          </a:prstGeom>
          <a:noFill/>
        </p:spPr>
        <p:txBody>
          <a:bodyPr wrap="square" lIns="0" rIns="0" tIns="0" bIns="0" anchor="t">
            <a:spAutoFit/>
          </a:bodyPr>
          <a:lstStyle/>
          <a:p>
            <a:pPr algn="l">
              <a:spcAft>
                <a:spcPts val="500"/>
              </a:spcAft>
            </a:pPr>
            <a:r>
              <a:rPr sz="1150" b="0" i="0">
                <a:solidFill>
                  <a:srgbClr val="5A6B7A"/>
                </a:solidFill>
                <a:latin typeface="Calibri"/>
              </a:rPr>
              <a:t>Everything below runs from a clean clone with no manual configuration</a:t>
            </a:r>
          </a:p>
        </p:txBody>
      </p:sp>
      <p:sp>
        <p:nvSpPr>
          <p:cNvPr id="4" name="Rectangle 3"/>
          <p:cNvSpPr/>
          <p:nvPr/>
        </p:nvSpPr>
        <p:spPr>
          <a:xfrm>
            <a:off x="566928" y="1371600"/>
            <a:ext cx="11057839" cy="18288"/>
          </a:xfrm>
          <a:prstGeom prst="rect">
            <a:avLst/>
          </a:prstGeom>
          <a:solidFill>
            <a:srgbClr val="D8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566928" y="1627632"/>
            <a:ext cx="3520440" cy="3017520"/>
          </a:xfrm>
          <a:prstGeom prst="roundRect">
            <a:avLst>
              <a:gd name="adj" fmla="val 5000"/>
            </a:avLst>
          </a:prstGeom>
          <a:solidFill>
            <a:srgbClr val="FFFFFF"/>
          </a:solidFill>
          <a:ln w="9525">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spcAft>
                <a:spcPts val="800"/>
              </a:spcAft>
            </a:pPr>
            <a:r>
              <a:rPr sz="1100" b="1" i="0">
                <a:solidFill>
                  <a:srgbClr val="007C91"/>
                </a:solidFill>
                <a:latin typeface="Calibri"/>
              </a:rPr>
              <a:t>TECHNICAL STACK</a:t>
            </a:r>
          </a:p>
          <a:p>
            <a:pPr>
              <a:spcAft>
                <a:spcPts val="600"/>
              </a:spcAft>
            </a:pPr>
            <a:r>
              <a:rPr sz="1150">
                <a:solidFill>
                  <a:srgbClr val="1A2733"/>
                </a:solidFill>
                <a:latin typeface="Calibri"/>
              </a:rPr>
              <a:t>•  PyTorch 2.x, Python 3.11</a:t>
            </a:r>
          </a:p>
          <a:p>
            <a:pPr>
              <a:spcAft>
                <a:spcPts val="600"/>
              </a:spcAft>
            </a:pPr>
            <a:r>
              <a:rPr sz="1150">
                <a:solidFill>
                  <a:srgbClr val="1A2733"/>
                </a:solidFill>
                <a:latin typeface="Calibri"/>
              </a:rPr>
              <a:t>•  NAFNet-style CNN, 0.68 M params</a:t>
            </a:r>
          </a:p>
          <a:p>
            <a:pPr>
              <a:spcAft>
                <a:spcPts val="600"/>
              </a:spcAft>
            </a:pPr>
            <a:r>
              <a:rPr sz="1150">
                <a:solidFill>
                  <a:srgbClr val="1A2733"/>
                </a:solidFill>
                <a:latin typeface="Calibri"/>
              </a:rPr>
              <a:t>•  Trained on a single NVIDIA T4</a:t>
            </a:r>
          </a:p>
          <a:p>
            <a:pPr>
              <a:spcAft>
                <a:spcPts val="600"/>
              </a:spcAft>
            </a:pPr>
            <a:r>
              <a:rPr sz="1150">
                <a:solidFill>
                  <a:srgbClr val="1A2733"/>
                </a:solidFill>
                <a:latin typeface="Calibri"/>
              </a:rPr>
              <a:t>•  Inference: torch + numpy only</a:t>
            </a:r>
          </a:p>
          <a:p>
            <a:pPr>
              <a:spcAft>
                <a:spcPts val="600"/>
              </a:spcAft>
            </a:pPr>
            <a:r>
              <a:rPr sz="1150">
                <a:solidFill>
                  <a:srgbClr val="1A2733"/>
                </a:solidFill>
                <a:latin typeface="Calibri"/>
              </a:rPr>
              <a:t>•  No external datasets or pretrained restoration weights</a:t>
            </a:r>
          </a:p>
        </p:txBody>
      </p:sp>
      <p:sp>
        <p:nvSpPr>
          <p:cNvPr id="6" name="Rounded Rectangle 5"/>
          <p:cNvSpPr/>
          <p:nvPr/>
        </p:nvSpPr>
        <p:spPr>
          <a:xfrm>
            <a:off x="4315968" y="1627632"/>
            <a:ext cx="3520440" cy="3017520"/>
          </a:xfrm>
          <a:prstGeom prst="roundRect">
            <a:avLst>
              <a:gd name="adj" fmla="val 5000"/>
            </a:avLst>
          </a:prstGeom>
          <a:solidFill>
            <a:srgbClr val="FFFFFF"/>
          </a:solidFill>
          <a:ln w="9525">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spcAft>
                <a:spcPts val="800"/>
              </a:spcAft>
            </a:pPr>
            <a:r>
              <a:rPr sz="1100" b="1" i="0">
                <a:solidFill>
                  <a:srgbClr val="007C91"/>
                </a:solidFill>
                <a:latin typeface="Calibri"/>
              </a:rPr>
              <a:t>IMPLEMENTATION</a:t>
            </a:r>
          </a:p>
          <a:p>
            <a:pPr>
              <a:spcAft>
                <a:spcPts val="600"/>
              </a:spcAft>
            </a:pPr>
            <a:r>
              <a:rPr sz="1150">
                <a:solidFill>
                  <a:srgbClr val="1A2733"/>
                </a:solidFill>
                <a:latin typeface="Calibri"/>
              </a:rPr>
              <a:t>•  python run.py &lt;in-dir&gt; &lt;out-dir&gt;</a:t>
            </a:r>
          </a:p>
          <a:p>
            <a:pPr>
              <a:spcAft>
                <a:spcPts val="600"/>
              </a:spcAft>
            </a:pPr>
            <a:r>
              <a:rPr sz="1150">
                <a:solidFill>
                  <a:srgbClr val="1A2733"/>
                </a:solidFill>
                <a:latin typeface="Calibri"/>
              </a:rPr>
              <a:t>•  Weights auto-loaded from models/</a:t>
            </a:r>
          </a:p>
          <a:p>
            <a:pPr>
              <a:spcAft>
                <a:spcPts val="600"/>
              </a:spcAft>
            </a:pPr>
            <a:r>
              <a:rPr sz="1150">
                <a:solidFill>
                  <a:srgbClr val="1A2733"/>
                </a:solidFill>
                <a:latin typeface="Calibri"/>
              </a:rPr>
              <a:t>•  Output dir created if absent</a:t>
            </a:r>
          </a:p>
          <a:p>
            <a:pPr>
              <a:spcAft>
                <a:spcPts val="600"/>
              </a:spcAft>
            </a:pPr>
            <a:r>
              <a:rPr sz="1150">
                <a:solidFill>
                  <a:srgbClr val="1A2733"/>
                </a:solidFill>
                <a:latin typeface="Calibri"/>
              </a:rPr>
              <a:t>•  Outputs clamped to [0,1], no NaN/Inf, verified</a:t>
            </a:r>
          </a:p>
          <a:p>
            <a:pPr>
              <a:spcAft>
                <a:spcPts val="600"/>
              </a:spcAft>
            </a:pPr>
            <a:r>
              <a:rPr sz="1150">
                <a:solidFill>
                  <a:srgbClr val="1A2733"/>
                </a:solidFill>
                <a:latin typeface="Calibri"/>
              </a:rPr>
              <a:t>•  Batched by resolution, threaded I/O, fp16 autocast</a:t>
            </a:r>
          </a:p>
        </p:txBody>
      </p:sp>
      <p:sp>
        <p:nvSpPr>
          <p:cNvPr id="7" name="Rounded Rectangle 6"/>
          <p:cNvSpPr/>
          <p:nvPr/>
        </p:nvSpPr>
        <p:spPr>
          <a:xfrm>
            <a:off x="8065007" y="1627632"/>
            <a:ext cx="3520440" cy="3017520"/>
          </a:xfrm>
          <a:prstGeom prst="roundRect">
            <a:avLst>
              <a:gd name="adj" fmla="val 5000"/>
            </a:avLst>
          </a:prstGeom>
          <a:solidFill>
            <a:srgbClr val="FFFFFF"/>
          </a:solidFill>
          <a:ln w="15875">
            <a:solidFill>
              <a:srgbClr val="007C91"/>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spcAft>
                <a:spcPts val="800"/>
              </a:spcAft>
            </a:pPr>
            <a:r>
              <a:rPr sz="1100" b="1" i="0">
                <a:solidFill>
                  <a:srgbClr val="007C91"/>
                </a:solidFill>
                <a:latin typeface="Calibri"/>
              </a:rPr>
              <a:t>REPRODUCIBILITY</a:t>
            </a:r>
          </a:p>
          <a:p>
            <a:pPr>
              <a:spcAft>
                <a:spcPts val="600"/>
              </a:spcAft>
            </a:pPr>
            <a:r>
              <a:rPr sz="1150">
                <a:solidFill>
                  <a:srgbClr val="1A2733"/>
                </a:solidFill>
                <a:latin typeface="Calibri"/>
              </a:rPr>
              <a:t>•  Seeds fixed; config-driven, nothing hard-coded</a:t>
            </a:r>
          </a:p>
          <a:p>
            <a:pPr>
              <a:spcAft>
                <a:spcPts val="600"/>
              </a:spcAft>
            </a:pPr>
            <a:r>
              <a:rPr sz="1150">
                <a:solidFill>
                  <a:srgbClr val="1A2733"/>
                </a:solidFill>
                <a:latin typeface="Calibri"/>
              </a:rPr>
              <a:t>•  Every validation logs step, LR, all metrics, git hash and full config</a:t>
            </a:r>
          </a:p>
          <a:p>
            <a:pPr>
              <a:spcAft>
                <a:spcPts val="600"/>
              </a:spcAft>
            </a:pPr>
            <a:r>
              <a:rPr sz="1150">
                <a:solidFill>
                  <a:srgbClr val="1A2733"/>
                </a:solidFill>
                <a:latin typeface="Calibri"/>
              </a:rPr>
              <a:t>•  Model config embedded in the checkpoint</a:t>
            </a:r>
          </a:p>
          <a:p>
            <a:pPr>
              <a:spcAft>
                <a:spcPts val="600"/>
              </a:spcAft>
            </a:pPr>
            <a:r>
              <a:rPr sz="1150">
                <a:solidFill>
                  <a:srgbClr val="1A2733"/>
                </a:solidFill>
                <a:latin typeface="Calibri"/>
              </a:rPr>
              <a:t>•  Pre-flight gate blocks a broken run before it wastes GPU hours</a:t>
            </a:r>
          </a:p>
          <a:p>
            <a:pPr>
              <a:spcAft>
                <a:spcPts val="600"/>
              </a:spcAft>
            </a:pPr>
            <a:r>
              <a:rPr sz="1150">
                <a:solidFill>
                  <a:srgbClr val="1A2733"/>
                </a:solidFill>
                <a:latin typeface="Calibri"/>
              </a:rPr>
              <a:t>•  Verified from a fresh public clone</a:t>
            </a:r>
          </a:p>
        </p:txBody>
      </p:sp>
      <p:sp>
        <p:nvSpPr>
          <p:cNvPr id="8" name="Rounded Rectangle 7"/>
          <p:cNvSpPr/>
          <p:nvPr/>
        </p:nvSpPr>
        <p:spPr>
          <a:xfrm>
            <a:off x="566928" y="4864608"/>
            <a:ext cx="11057839" cy="1143000"/>
          </a:xfrm>
          <a:prstGeom prst="roundRect">
            <a:avLst>
              <a:gd name="adj" fmla="val 5000"/>
            </a:avLst>
          </a:prstGeom>
          <a:solidFill>
            <a:srgbClr val="FFFFFF"/>
          </a:solidFill>
          <a:ln w="9525">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spcAft>
                <a:spcPts val="600"/>
              </a:spcAft>
            </a:pPr>
            <a:r>
              <a:rPr sz="1100" b="1" i="0">
                <a:solidFill>
                  <a:srgbClr val="007C91"/>
                </a:solidFill>
                <a:latin typeface="Calibri"/>
              </a:rPr>
              <a:t>FEASIBILITY</a:t>
            </a:r>
          </a:p>
          <a:p>
            <a:pPr>
              <a:spcAft>
                <a:spcPts val="500"/>
              </a:spcAft>
            </a:pPr>
            <a:r>
              <a:rPr sz="1150" b="0" i="0">
                <a:solidFill>
                  <a:srgbClr val="1A2733"/>
                </a:solidFill>
                <a:latin typeface="Calibri"/>
              </a:rPr>
              <a:t>Trained end-to-end within a single free Kaggle GPU session. The model is small enough to deploy on commodity hardware and fast enough for inline inspection, and the degradation engine can generate unlimited additional training data from any clean image set -- so the approach scales to new tools and processes without new paired acquisitions.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66928" y="384048"/>
            <a:ext cx="11057839" cy="566928"/>
          </a:xfrm>
          <a:prstGeom prst="rect">
            <a:avLst/>
          </a:prstGeom>
          <a:noFill/>
        </p:spPr>
        <p:txBody>
          <a:bodyPr wrap="square" lIns="0" rIns="0" tIns="0" bIns="0" anchor="t">
            <a:spAutoFit/>
          </a:bodyPr>
          <a:lstStyle/>
          <a:p>
            <a:pPr algn="l">
              <a:spcAft>
                <a:spcPts val="200"/>
              </a:spcAft>
            </a:pPr>
            <a:r>
              <a:rPr sz="2600" b="1" i="0">
                <a:solidFill>
                  <a:srgbClr val="1A2733"/>
                </a:solidFill>
                <a:latin typeface="Cambria"/>
              </a:rPr>
              <a:t>Repository, References and Disclosure</a:t>
            </a:r>
          </a:p>
        </p:txBody>
      </p:sp>
      <p:sp>
        <p:nvSpPr>
          <p:cNvPr id="3" name="Rectangle 2"/>
          <p:cNvSpPr/>
          <p:nvPr/>
        </p:nvSpPr>
        <p:spPr>
          <a:xfrm>
            <a:off x="566928" y="1371600"/>
            <a:ext cx="11057839" cy="18288"/>
          </a:xfrm>
          <a:prstGeom prst="rect">
            <a:avLst/>
          </a:prstGeom>
          <a:solidFill>
            <a:srgbClr val="D8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566928" y="1627632"/>
            <a:ext cx="5532120" cy="1600200"/>
          </a:xfrm>
          <a:prstGeom prst="roundRect">
            <a:avLst>
              <a:gd name="adj" fmla="val 5000"/>
            </a:avLst>
          </a:prstGeom>
          <a:solidFill>
            <a:srgbClr val="FFFFFF"/>
          </a:solidFill>
          <a:ln w="15875">
            <a:solidFill>
              <a:srgbClr val="007C91"/>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spcAft>
                <a:spcPts val="700"/>
              </a:spcAft>
            </a:pPr>
            <a:r>
              <a:rPr sz="1100" b="1" i="0">
                <a:solidFill>
                  <a:srgbClr val="007C91"/>
                </a:solidFill>
                <a:latin typeface="Calibri"/>
              </a:rPr>
              <a:t>GITHUB REPOSITORY</a:t>
            </a:r>
          </a:p>
          <a:p>
            <a:pPr>
              <a:spcAft>
                <a:spcPts val="600"/>
              </a:spcAft>
            </a:pPr>
            <a:r>
              <a:rPr sz="1400" b="1" i="0">
                <a:solidFill>
                  <a:srgbClr val="1A2733"/>
                </a:solidFill>
                <a:latin typeface="Cambria"/>
              </a:rPr>
              <a:t>https://github.com/23f2001033/kla-restore</a:t>
            </a:r>
          </a:p>
          <a:p>
            <a:pPr>
              <a:spcAft>
                <a:spcPts val="500"/>
              </a:spcAft>
            </a:pPr>
            <a:r>
              <a:rPr sz="1100" b="0" i="0">
                <a:solidFill>
                  <a:srgbClr val="5A6B7A"/>
                </a:solidFill>
                <a:latin typeface="Calibri"/>
              </a:rPr>
              <a:t>Contains run.py, requirements.txt, README.md, models/best.pt, training and evaluation code, and the full results.</a:t>
            </a:r>
          </a:p>
        </p:txBody>
      </p:sp>
      <p:sp>
        <p:nvSpPr>
          <p:cNvPr id="5" name="Rounded Rectangle 4"/>
          <p:cNvSpPr/>
          <p:nvPr/>
        </p:nvSpPr>
        <p:spPr>
          <a:xfrm>
            <a:off x="6373368" y="1627632"/>
            <a:ext cx="5212080" cy="1600200"/>
          </a:xfrm>
          <a:prstGeom prst="roundRect">
            <a:avLst>
              <a:gd name="adj" fmla="val 5000"/>
            </a:avLst>
          </a:prstGeom>
          <a:solidFill>
            <a:srgbClr val="FFFFFF"/>
          </a:solidFill>
          <a:ln w="9525">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spcAft>
                <a:spcPts val="700"/>
              </a:spcAft>
            </a:pPr>
            <a:r>
              <a:rPr sz="1100" b="1" i="0">
                <a:solidFill>
                  <a:srgbClr val="007C91"/>
                </a:solidFill>
                <a:latin typeface="Calibri"/>
              </a:rPr>
              <a:t>PROTOTYPE / SIMULATION VIDEO</a:t>
            </a:r>
          </a:p>
          <a:p>
            <a:pPr>
              <a:spcAft>
                <a:spcPts val="500"/>
              </a:spcAft>
            </a:pPr>
            <a:r>
              <a:rPr sz="1100" b="0" i="0">
                <a:solidFill>
                  <a:srgbClr val="5A6B7A"/>
                </a:solidFill>
                <a:latin typeface="Calibri"/>
              </a:rPr>
              <a:t>Working solution demonstrated in the repository; inference reproducible with a single command.</a:t>
            </a:r>
          </a:p>
        </p:txBody>
      </p:sp>
      <p:sp>
        <p:nvSpPr>
          <p:cNvPr id="6" name="Rounded Rectangle 5"/>
          <p:cNvSpPr/>
          <p:nvPr/>
        </p:nvSpPr>
        <p:spPr>
          <a:xfrm>
            <a:off x="566928" y="3401568"/>
            <a:ext cx="5532120" cy="2331720"/>
          </a:xfrm>
          <a:prstGeom prst="roundRect">
            <a:avLst>
              <a:gd name="adj" fmla="val 5000"/>
            </a:avLst>
          </a:prstGeom>
          <a:solidFill>
            <a:srgbClr val="FFFFFF"/>
          </a:solidFill>
          <a:ln w="9525">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spcAft>
                <a:spcPts val="700"/>
              </a:spcAft>
            </a:pPr>
            <a:r>
              <a:rPr sz="1100" b="1" i="0">
                <a:solidFill>
                  <a:srgbClr val="007C91"/>
                </a:solidFill>
                <a:latin typeface="Calibri"/>
              </a:rPr>
              <a:t>RESEARCH BACKGROUND</a:t>
            </a:r>
          </a:p>
          <a:p>
            <a:pPr>
              <a:spcAft>
                <a:spcPts val="400"/>
              </a:spcAft>
            </a:pPr>
            <a:r>
              <a:rPr sz="1050">
                <a:solidFill>
                  <a:srgbClr val="1A2733"/>
                </a:solidFill>
                <a:latin typeface="Calibri"/>
              </a:rPr>
              <a:t>•  Chen et al., Simple Baselines for Image Restoration, ECCV 2022 -- NAFNet</a:t>
            </a:r>
          </a:p>
          <a:p>
            <a:pPr>
              <a:spcAft>
                <a:spcPts val="400"/>
              </a:spcAft>
            </a:pPr>
            <a:r>
              <a:rPr sz="1050">
                <a:solidFill>
                  <a:srgbClr val="1A2733"/>
                </a:solidFill>
                <a:latin typeface="Calibri"/>
              </a:rPr>
              <a:t>•  Wang et al., Real-ESRGAN, ICCV 2021 -- degradation modelling for real-world super-resolution</a:t>
            </a:r>
          </a:p>
          <a:p>
            <a:pPr>
              <a:spcAft>
                <a:spcPts val="400"/>
              </a:spcAft>
            </a:pPr>
            <a:r>
              <a:rPr sz="1050">
                <a:solidFill>
                  <a:srgbClr val="1A2733"/>
                </a:solidFill>
                <a:latin typeface="Calibri"/>
              </a:rPr>
              <a:t>•  Shi et al., Sub-Pixel Convolution, CVPR 2016 -- PixelShuffle upsampling</a:t>
            </a:r>
          </a:p>
          <a:p>
            <a:pPr>
              <a:spcAft>
                <a:spcPts val="400"/>
              </a:spcAft>
            </a:pPr>
            <a:r>
              <a:rPr sz="1050">
                <a:solidFill>
                  <a:srgbClr val="1A2733"/>
                </a:solidFill>
                <a:latin typeface="Calibri"/>
              </a:rPr>
              <a:t>•  Wang et al., Image Quality Assessment, IEEE TIP 2004 -- SSIM</a:t>
            </a:r>
          </a:p>
          <a:p>
            <a:pPr>
              <a:spcAft>
                <a:spcPts val="400"/>
              </a:spcAft>
            </a:pPr>
            <a:r>
              <a:rPr sz="1050">
                <a:solidFill>
                  <a:srgbClr val="1A2733"/>
                </a:solidFill>
                <a:latin typeface="Calibri"/>
              </a:rPr>
              <a:t>•  Zhang et al., The Unreasonable Effectiveness of Deep Features, CVPR 2018 -- LPIPS</a:t>
            </a:r>
          </a:p>
        </p:txBody>
      </p:sp>
      <p:sp>
        <p:nvSpPr>
          <p:cNvPr id="7" name="Rounded Rectangle 6"/>
          <p:cNvSpPr/>
          <p:nvPr/>
        </p:nvSpPr>
        <p:spPr>
          <a:xfrm>
            <a:off x="6373368" y="3401568"/>
            <a:ext cx="5212080" cy="2331720"/>
          </a:xfrm>
          <a:prstGeom prst="roundRect">
            <a:avLst>
              <a:gd name="adj" fmla="val 5000"/>
            </a:avLst>
          </a:prstGeom>
          <a:solidFill>
            <a:srgbClr val="FFFFFF"/>
          </a:solidFill>
          <a:ln w="9525">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spcAft>
                <a:spcPts val="700"/>
              </a:spcAft>
            </a:pPr>
            <a:r>
              <a:rPr sz="1100" b="1" i="0">
                <a:solidFill>
                  <a:srgbClr val="007C91"/>
                </a:solidFill>
                <a:latin typeface="Calibri"/>
              </a:rPr>
              <a:t>EXTERNAL RESOURCE DISCLOSURE</a:t>
            </a:r>
          </a:p>
          <a:p>
            <a:pPr>
              <a:spcAft>
                <a:spcPts val="400"/>
              </a:spcAft>
            </a:pPr>
            <a:r>
              <a:rPr sz="1050">
                <a:solidFill>
                  <a:srgbClr val="1A2733"/>
                </a:solidFill>
                <a:latin typeface="Calibri"/>
              </a:rPr>
              <a:t>•  No external datasets used. No pretrained restoration weights used</a:t>
            </a:r>
          </a:p>
          <a:p>
            <a:pPr>
              <a:spcAft>
                <a:spcPts val="400"/>
              </a:spcAft>
            </a:pPr>
            <a:r>
              <a:rPr sz="1050">
                <a:solidFill>
                  <a:srgbClr val="1A2733"/>
                </a:solidFill>
                <a:latin typeface="Calibri"/>
              </a:rPr>
              <a:t>•  The model is trained from scratch on the official KLA data plus synthetic pairs derived from that same data</a:t>
            </a:r>
          </a:p>
          <a:p>
            <a:pPr>
              <a:spcAft>
                <a:spcPts val="400"/>
              </a:spcAft>
            </a:pPr>
            <a:r>
              <a:rPr sz="1050">
                <a:solidFill>
                  <a:srgbClr val="1A2733"/>
                </a:solidFill>
                <a:latin typeface="Calibri"/>
              </a:rPr>
              <a:t>•  lpips (BSD-2-Clause) supplies the perceptual loss and metric; its VGG16 backbone carries ImageNet weights shipped with the package</a:t>
            </a:r>
          </a:p>
          <a:p>
            <a:pPr>
              <a:spcAft>
                <a:spcPts val="400"/>
              </a:spcAft>
            </a:pPr>
            <a:r>
              <a:rPr sz="1050">
                <a:solidFill>
                  <a:srgbClr val="1A2733"/>
                </a:solidFill>
                <a:latin typeface="Calibri"/>
              </a:rPr>
              <a:t>•  Training degrades gracefully without it, and run.py never imports 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