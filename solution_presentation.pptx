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874519"/>
            <a:ext cx="87782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4200" b="1" i="0">
                <a:solidFill>
                  <a:srgbClr val="FFFFFF"/>
                </a:solidFill>
                <a:latin typeface="Cambria"/>
              </a:rPr>
              <a:t>Restoring Degraded</a:t>
            </a:r>
          </a:p>
          <a:p>
            <a:pPr>
              <a:spcAft>
                <a:spcPts val="1000"/>
              </a:spcAft>
            </a:pPr>
            <a:r>
              <a:rPr sz="4200" b="1" i="0">
                <a:solidFill>
                  <a:srgbClr val="00B4D8"/>
                </a:solidFill>
                <a:latin typeface="Cambria"/>
              </a:rPr>
              <a:t>Inspection Images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611880"/>
            <a:ext cx="8961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C9D6E0"/>
                </a:solidFill>
                <a:latin typeface="Calibri"/>
              </a:rPr>
              <a:t>Joint speckle/Gaussian denoising and 2x super-resolution, built on a degradation model recovered from the data itself.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3401568"/>
            <a:ext cx="1371600" cy="41148"/>
          </a:xfrm>
          <a:prstGeom prst="rect">
            <a:avLst/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KLA Problem Statement  |  SEMICON India Hackathon 2026</a:t>
            </a:r>
          </a:p>
          <a:p>
            <a:pPr>
              <a:spcAft>
                <a:spcPts val="600"/>
              </a:spcAft>
            </a:pPr>
            <a:r>
              <a:rPr sz="1100" b="0" i="0">
                <a:solidFill>
                  <a:srgbClr val="5A6B7A"/>
                </a:solidFill>
                <a:latin typeface="Calibri"/>
              </a:rPr>
              <a:t>Team submission  ·  github.com/23f2001033/kla-restore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 i="0">
                <a:solidFill>
                  <a:srgbClr val="1A2733"/>
                </a:solidFill>
                <a:latin typeface="Cambria"/>
              </a:rPr>
              <a:t>The restoration task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70432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A6B7A"/>
                </a:solidFill>
                <a:latin typeface="Calibri"/>
              </a:rPr>
              <a:t>Three degradations, applied in an undisclosed order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91640"/>
            <a:ext cx="548640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46304" bIns="146304"/>
          <a:lstStyle/>
          <a:p>
            <a:pPr algn="ctr">
              <a:spcAft>
                <a:spcPts val="900"/>
              </a:spcAft>
            </a:pPr>
            <a:r>
              <a:rPr sz="1500" b="1" i="0">
                <a:solidFill>
                  <a:srgbClr val="1A2733"/>
                </a:solidFill>
                <a:latin typeface="Cambria"/>
              </a:rPr>
              <a:t>What we are given</a:t>
            </a:r>
          </a:p>
          <a:p>
            <a:pPr>
              <a:spcAft>
                <a:spcPts val="700"/>
              </a:spcAft>
            </a:pPr>
            <a:r>
              <a:rPr sz="1250">
                <a:solidFill>
                  <a:srgbClr val="1A2733"/>
                </a:solidFill>
                <a:latin typeface="Calibri"/>
              </a:rPr>
              <a:t>•   3200 paired samples: clean GT and its degraded counterpart</a:t>
            </a:r>
          </a:p>
          <a:p>
            <a:pPr>
              <a:spcAft>
                <a:spcPts val="700"/>
              </a:spcAft>
            </a:pPr>
            <a:r>
              <a:rPr sz="1250">
                <a:solidFill>
                  <a:srgbClr val="1A2733"/>
                </a:solidFill>
                <a:latin typeface="Calibri"/>
              </a:rPr>
              <a:t>•   GT 256×256 float32 in [0,1]; NoisyLR 128×128</a:t>
            </a:r>
          </a:p>
          <a:p>
            <a:pPr>
              <a:spcAft>
                <a:spcPts val="700"/>
              </a:spcAft>
            </a:pPr>
            <a:r>
              <a:rPr sz="1250">
                <a:solidFill>
                  <a:srgbClr val="1A2733"/>
                </a:solidFill>
                <a:latin typeface="Calibri"/>
              </a:rPr>
              <a:t>•   Degradations: speckle noise, additive Gaussian noise, downsampling</a:t>
            </a:r>
          </a:p>
          <a:p>
            <a:pPr>
              <a:spcAft>
                <a:spcPts val="700"/>
              </a:spcAft>
            </a:pPr>
            <a:r>
              <a:rPr sz="1250">
                <a:solidFill>
                  <a:srgbClr val="1A2733"/>
                </a:solidFill>
                <a:latin typeface="Calibri"/>
              </a:rPr>
              <a:t>•   Order undisclosed — the model must not depend on knowing it</a:t>
            </a:r>
          </a:p>
          <a:p>
            <a:pPr>
              <a:spcAft>
                <a:spcPts val="700"/>
              </a:spcAft>
            </a:pPr>
            <a:r>
              <a:rPr sz="1250">
                <a:solidFill>
                  <a:srgbClr val="1A2733"/>
                </a:solidFill>
                <a:latin typeface="Calibri"/>
              </a:rPr>
              <a:t>•   NoisyLR deliberately exceeds [0,1] (observed [-0.28, 2.16])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46520" y="1691640"/>
            <a:ext cx="512064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46304" bIns="146304"/>
          <a:lstStyle/>
          <a:p>
            <a:pPr algn="ctr">
              <a:spcAft>
                <a:spcPts val="900"/>
              </a:spcAft>
            </a:pPr>
            <a:r>
              <a:rPr sz="1500" b="1" i="0">
                <a:solidFill>
                  <a:srgbClr val="1A2733"/>
                </a:solidFill>
                <a:latin typeface="Cambria"/>
              </a:rPr>
              <a:t>What is scored</a:t>
            </a:r>
          </a:p>
          <a:p>
            <a:pPr>
              <a:spcAft>
                <a:spcPts val="700"/>
              </a:spcAft>
            </a:pPr>
            <a:r>
              <a:rPr sz="1250">
                <a:solidFill>
                  <a:srgbClr val="1A2733"/>
                </a:solidFill>
                <a:latin typeface="Calibri"/>
              </a:rPr>
              <a:t>•   Restoration quality: PSNR, SSIM and LPIPS on hidden ground truth</a:t>
            </a:r>
          </a:p>
          <a:p>
            <a:pPr>
              <a:spcAft>
                <a:spcPts val="700"/>
              </a:spcAft>
            </a:pPr>
            <a:r>
              <a:rPr sz="1250">
                <a:solidFill>
                  <a:srgbClr val="1A2733"/>
                </a:solidFill>
                <a:latin typeface="Calibri"/>
              </a:rPr>
              <a:t>•   End-to-end throughput on an NVIDIA H100 — including script startup, disk I/O and pre/post-processing</a:t>
            </a:r>
          </a:p>
          <a:p>
            <a:pPr>
              <a:spcAft>
                <a:spcPts val="700"/>
              </a:spcAft>
            </a:pPr>
            <a:r>
              <a:rPr sz="1250">
                <a:solidFill>
                  <a:srgbClr val="1A2733"/>
                </a:solidFill>
                <a:latin typeface="Calibri"/>
              </a:rPr>
              <a:t>•   Training and compute hygiene: reproducibility, clean experiments</a:t>
            </a:r>
          </a:p>
          <a:p>
            <a:pPr>
              <a:spcAft>
                <a:spcPts val="700"/>
              </a:spcAft>
            </a:pPr>
            <a:r>
              <a:rPr sz="1250">
                <a:solidFill>
                  <a:srgbClr val="1A2733"/>
                </a:solidFill>
                <a:latin typeface="Calibri"/>
              </a:rPr>
              <a:t>•   Hidden test set spans in-distribution and out-of-distribution content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983480"/>
            <a:ext cx="274320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3000" b="1" i="0">
                <a:solidFill>
                  <a:srgbClr val="FFB703"/>
                </a:solidFill>
                <a:latin typeface="Cambria"/>
              </a:rPr>
              <a:t>23.18 dB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5A6B7A"/>
                </a:solidFill>
                <a:latin typeface="Calibri"/>
              </a:rPr>
              <a:t>bicubic upsample of NoisyLR</a:t>
            </a:r>
          </a:p>
          <a:p>
            <a:pPr>
              <a:spcAft>
                <a:spcPts val="0"/>
              </a:spcAft>
            </a:pPr>
            <a:r>
              <a:rPr sz="950" b="0" i="1">
                <a:solidFill>
                  <a:srgbClr val="5A6B7A"/>
                </a:solidFill>
                <a:latin typeface="Calibri"/>
              </a:rPr>
              <a:t>the do-nothing baseline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4983480"/>
            <a:ext cx="310896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3000" b="1" i="0">
                <a:solidFill>
                  <a:srgbClr val="5A6B7A"/>
                </a:solidFill>
                <a:latin typeface="Cambria"/>
              </a:rPr>
              <a:t>32.25 dB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5A6B7A"/>
                </a:solidFill>
                <a:latin typeface="Calibri"/>
              </a:rPr>
              <a:t>perfect denoise + bicubic</a:t>
            </a:r>
          </a:p>
          <a:p>
            <a:pPr>
              <a:spcAft>
                <a:spcPts val="0"/>
              </a:spcAft>
            </a:pPr>
            <a:r>
              <a:rPr sz="950" b="0" i="1">
                <a:solidFill>
                  <a:srgbClr val="5A6B7A"/>
                </a:solidFill>
                <a:latin typeface="Calibri"/>
              </a:rPr>
              <a:t>interpolation-only ceiling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0" y="4983480"/>
            <a:ext cx="402336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3000" b="1" i="0">
                <a:solidFill>
                  <a:srgbClr val="00B4D8"/>
                </a:solidFill>
                <a:latin typeface="Cambria"/>
              </a:rPr>
              <a:t>&gt; 32.25 dB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5A6B7A"/>
                </a:solidFill>
                <a:latin typeface="Calibri"/>
              </a:rPr>
              <a:t>target for a model that truly learns SR</a:t>
            </a:r>
          </a:p>
          <a:p>
            <a:pPr>
              <a:spcAft>
                <a:spcPts val="0"/>
              </a:spcAft>
            </a:pPr>
            <a:r>
              <a:rPr sz="950" b="0" i="1">
                <a:solidFill>
                  <a:srgbClr val="5A6B7A"/>
                </a:solidFill>
                <a:latin typeface="Calibri"/>
              </a:rPr>
              <a:t>must beat interpolation, not match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382512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1">
                <a:solidFill>
                  <a:srgbClr val="5A6B7A"/>
                </a:solidFill>
                <a:latin typeface="Calibri"/>
              </a:rPr>
              <a:t>Baselines measured on the held-out split; reproduce with python analyze_degradation.py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 i="0">
                <a:solidFill>
                  <a:srgbClr val="1A2733"/>
                </a:solidFill>
                <a:latin typeface="Cambria"/>
              </a:rPr>
              <a:t>We recovered the degradation model from the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70432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A6B7A"/>
                </a:solidFill>
                <a:latin typeface="Calibri"/>
              </a:rPr>
              <a:t>Rather than guessing at it — every number below is reproducible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783080"/>
            <a:ext cx="10911535" cy="384048"/>
          </a:xfrm>
          <a:prstGeom prst="rect">
            <a:avLst/>
          </a:prstGeom>
          <a:solidFill>
            <a:srgbClr val="0B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49808" y="1833372"/>
            <a:ext cx="195681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Property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52928" y="1833372"/>
            <a:ext cx="305409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Finding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53328" y="1833372"/>
            <a:ext cx="545896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Evidence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167128"/>
            <a:ext cx="10911535" cy="384048"/>
          </a:xfrm>
          <a:prstGeom prst="rect">
            <a:avLst/>
          </a:prstGeom>
          <a:solidFill>
            <a:srgbClr val="EF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49808" y="2217420"/>
            <a:ext cx="195681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733"/>
                </a:solidFill>
                <a:latin typeface="Calibri"/>
              </a:rPr>
              <a:t>Downsampling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52928" y="2217420"/>
            <a:ext cx="305409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00B4D8"/>
                </a:solidFill>
                <a:latin typeface="Calibri"/>
              </a:rPr>
              <a:t>2×2 area (box) average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53328" y="2217420"/>
            <a:ext cx="545896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733"/>
                </a:solidFill>
                <a:latin typeface="Calibri"/>
              </a:rPr>
              <a:t>residual std 0.0910 vs 0.0924 bicubic, 0.1006 nearest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601468"/>
            <a:ext cx="195681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733"/>
                </a:solidFill>
                <a:latin typeface="Calibri"/>
              </a:rPr>
              <a:t>Noise placement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52928" y="2601468"/>
            <a:ext cx="305409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00B4D8"/>
                </a:solidFill>
                <a:latin typeface="Calibri"/>
              </a:rPr>
              <a:t>applied after downsampling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53328" y="2601468"/>
            <a:ext cx="545896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733"/>
                </a:solidFill>
                <a:latin typeface="Calibri"/>
              </a:rPr>
              <a:t>residual is spatially white (lag-1 autocorr −0.05)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935224"/>
            <a:ext cx="10911535" cy="384048"/>
          </a:xfrm>
          <a:prstGeom prst="rect">
            <a:avLst/>
          </a:prstGeom>
          <a:solidFill>
            <a:srgbClr val="EF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49808" y="2985516"/>
            <a:ext cx="195681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733"/>
                </a:solidFill>
                <a:latin typeface="Calibri"/>
              </a:rPr>
              <a:t>Speckle family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52928" y="2985516"/>
            <a:ext cx="305409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00B4D8"/>
                </a:solidFill>
                <a:latin typeface="Calibri"/>
              </a:rPr>
              <a:t>multiplicative Gamma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3328" y="2985516"/>
            <a:ext cx="545896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733"/>
                </a:solidFill>
                <a:latin typeface="Calibri"/>
              </a:rPr>
              <a:t>skew of r/d = +0.357 vs Gamma's predicted 2/√36 = +0.333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3369564"/>
            <a:ext cx="195681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733"/>
                </a:solidFill>
                <a:latin typeface="Calibri"/>
              </a:rPr>
              <a:t>Speckle strength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52928" y="3369564"/>
            <a:ext cx="305409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733"/>
                </a:solidFill>
                <a:latin typeface="Calibri"/>
              </a:rPr>
              <a:t>L: p5 22, median 36, p95 57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53328" y="3369564"/>
            <a:ext cx="545896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733"/>
                </a:solidFill>
                <a:latin typeface="Calibri"/>
              </a:rPr>
              <a:t>per-image fit of var(r) = d²/L + σ²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703320"/>
            <a:ext cx="10911535" cy="384048"/>
          </a:xfrm>
          <a:prstGeom prst="rect">
            <a:avLst/>
          </a:prstGeom>
          <a:solidFill>
            <a:srgbClr val="EF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49808" y="3753611"/>
            <a:ext cx="195681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733"/>
                </a:solidFill>
                <a:latin typeface="Calibri"/>
              </a:rPr>
              <a:t>Gaussian strength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52928" y="3753611"/>
            <a:ext cx="305409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733"/>
                </a:solidFill>
                <a:latin typeface="Calibri"/>
              </a:rPr>
              <a:t>σ: median 0.021, p95 0.073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53328" y="3753611"/>
            <a:ext cx="545896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733"/>
                </a:solidFill>
                <a:latin typeface="Calibri"/>
              </a:rPr>
              <a:t>21.3% of images below 0.005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069080"/>
            <a:ext cx="10908792" cy="1417320"/>
          </a:xfrm>
          <a:prstGeom prst="roundRect">
            <a:avLst>
              <a:gd name="adj" fmla="val 6000"/>
            </a:avLst>
          </a:prstGeom>
          <a:solidFill>
            <a:srgbClr val="E8F7FB"/>
          </a:solidFill>
          <a:ln w="9525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46304" bIns="146304"/>
          <a:lstStyle/>
          <a:p>
            <a:pPr algn="ctr">
              <a:spcAft>
                <a:spcPts val="600"/>
              </a:spcAft>
            </a:pPr>
            <a:r>
              <a:rPr sz="1350" b="1" i="0">
                <a:solidFill>
                  <a:srgbClr val="1A2733"/>
                </a:solidFill>
                <a:latin typeface="Cambria"/>
              </a:rPr>
              <a:t>Why this mattered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1A2733"/>
                </a:solidFill>
                <a:latin typeface="Calibri"/>
              </a:rPr>
              <a:t>Multiplicative Gaussian speckle would be symmetric; the measured +0.357 skew is what pins the family to Gamma. Fixing the forward model is what let us generate synthetic pairs that match the real distribution instead of a plausible-looking guess — the first attempt was 50% too noisy (residual std 0.137 vs 0.091) and would have biased the model toward over-smoothing.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382512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1">
                <a:solidFill>
                  <a:srgbClr val="5A6B7A"/>
                </a:solidFill>
                <a:latin typeface="Calibri"/>
              </a:rPr>
              <a:t>Full derivation in results/degradation_analysis.md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 i="0">
                <a:solidFill>
                  <a:srgbClr val="1A2733"/>
                </a:solidFill>
                <a:latin typeface="Cambria"/>
              </a:rPr>
              <a:t>End-to-end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70432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A6B7A"/>
                </a:solidFill>
                <a:latin typeface="Calibri"/>
              </a:rPr>
              <a:t>One model, one forward pass, no staging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65960"/>
            <a:ext cx="2578608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46304" bIns="146304"/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00B4D8"/>
                </a:solidFill>
                <a:latin typeface="Calibri"/>
              </a:rPr>
              <a:t>01</a:t>
            </a:r>
          </a:p>
          <a:p>
            <a:pPr>
              <a:spcAft>
                <a:spcPts val="700"/>
              </a:spcAft>
            </a:pPr>
            <a:r>
              <a:rPr sz="1700" b="1" i="0">
                <a:solidFill>
                  <a:srgbClr val="1A2733"/>
                </a:solidFill>
                <a:latin typeface="Cambria"/>
              </a:rPr>
              <a:t>Pack</a:t>
            </a:r>
          </a:p>
          <a:p>
            <a:pPr>
              <a:spcAft>
                <a:spcPts val="600"/>
              </a:spcAft>
            </a:pPr>
            <a:r>
              <a:rPr sz="1150" b="0" i="0">
                <a:solidFill>
                  <a:srgbClr val="1A2733"/>
                </a:solidFill>
                <a:latin typeface="Calibri"/>
              </a:rPr>
              <a:t>6400 .npy files → two contiguous memmaps</a:t>
            </a:r>
          </a:p>
          <a:p>
            <a:pPr>
              <a:spcAft>
                <a:spcPts val="0"/>
              </a:spcAft>
            </a:pPr>
            <a:r>
              <a:rPr sz="1000" b="0" i="1">
                <a:solidFill>
                  <a:srgbClr val="5A6B7A"/>
                </a:solidFill>
                <a:latin typeface="Calibri"/>
              </a:rPr>
              <a:t>removes per-file I/O from every epoch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255263" y="2770632"/>
            <a:ext cx="256032" cy="329184"/>
          </a:xfrm>
          <a:prstGeom prst="rightArrow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3547872" y="1965960"/>
            <a:ext cx="2578608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46304" bIns="146304"/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00B4D8"/>
                </a:solidFill>
                <a:latin typeface="Calibri"/>
              </a:rPr>
              <a:t>02</a:t>
            </a:r>
          </a:p>
          <a:p>
            <a:pPr>
              <a:spcAft>
                <a:spcPts val="700"/>
              </a:spcAft>
            </a:pPr>
            <a:r>
              <a:rPr sz="1700" b="1" i="0">
                <a:solidFill>
                  <a:srgbClr val="1A2733"/>
                </a:solidFill>
                <a:latin typeface="Cambria"/>
              </a:rPr>
              <a:t>Degrade</a:t>
            </a:r>
          </a:p>
          <a:p>
            <a:pPr>
              <a:spcAft>
                <a:spcPts val="600"/>
              </a:spcAft>
            </a:pPr>
            <a:r>
              <a:rPr sz="1150" b="0" i="0">
                <a:solidFill>
                  <a:srgbClr val="1A2733"/>
                </a:solidFill>
                <a:latin typeface="Calibri"/>
              </a:rPr>
              <a:t>50% real pairs / 50% synthetic</a:t>
            </a:r>
          </a:p>
          <a:p>
            <a:pPr>
              <a:spcAft>
                <a:spcPts val="0"/>
              </a:spcAft>
            </a:pPr>
            <a:r>
              <a:rPr sz="1000" b="0" i="1">
                <a:solidFill>
                  <a:srgbClr val="5A6B7A"/>
                </a:solidFill>
                <a:latin typeface="Calibri"/>
              </a:rPr>
              <a:t>randomised kernel, order, L and σ</a:t>
            </a:r>
          </a:p>
        </p:txBody>
      </p:sp>
      <p:sp>
        <p:nvSpPr>
          <p:cNvPr id="7" name="Right Arrow 6"/>
          <p:cNvSpPr/>
          <p:nvPr/>
        </p:nvSpPr>
        <p:spPr>
          <a:xfrm>
            <a:off x="6163055" y="2770632"/>
            <a:ext cx="256032" cy="329184"/>
          </a:xfrm>
          <a:prstGeom prst="rightArrow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6455664" y="1965960"/>
            <a:ext cx="2578608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46304" bIns="146304"/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00B4D8"/>
                </a:solidFill>
                <a:latin typeface="Calibri"/>
              </a:rPr>
              <a:t>03</a:t>
            </a:r>
          </a:p>
          <a:p>
            <a:pPr>
              <a:spcAft>
                <a:spcPts val="700"/>
              </a:spcAft>
            </a:pPr>
            <a:r>
              <a:rPr sz="1700" b="1" i="0">
                <a:solidFill>
                  <a:srgbClr val="1A2733"/>
                </a:solidFill>
                <a:latin typeface="Cambria"/>
              </a:rPr>
              <a:t>Train</a:t>
            </a:r>
          </a:p>
          <a:p>
            <a:pPr>
              <a:spcAft>
                <a:spcPts val="600"/>
              </a:spcAft>
            </a:pPr>
            <a:r>
              <a:rPr sz="1150" b="0" i="0">
                <a:solidFill>
                  <a:srgbClr val="1A2733"/>
                </a:solidFill>
                <a:latin typeface="Calibri"/>
              </a:rPr>
              <a:t>NAF body at LR res + PixelShuffle ×2</a:t>
            </a:r>
          </a:p>
          <a:p>
            <a:pPr>
              <a:spcAft>
                <a:spcPts val="0"/>
              </a:spcAft>
            </a:pPr>
            <a:r>
              <a:rPr sz="1000" b="0" i="1">
                <a:solidFill>
                  <a:srgbClr val="5A6B7A"/>
                </a:solidFill>
                <a:latin typeface="Calibri"/>
              </a:rPr>
              <a:t>Charbonnier + SSIM (+LPIPS fine-tune)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9070847" y="2770632"/>
            <a:ext cx="256032" cy="329184"/>
          </a:xfrm>
          <a:prstGeom prst="rightArrow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9363455" y="1965960"/>
            <a:ext cx="2578608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46304" bIns="146304"/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00B4D8"/>
                </a:solidFill>
                <a:latin typeface="Calibri"/>
              </a:rPr>
              <a:t>04</a:t>
            </a:r>
          </a:p>
          <a:p>
            <a:pPr>
              <a:spcAft>
                <a:spcPts val="700"/>
              </a:spcAft>
            </a:pPr>
            <a:r>
              <a:rPr sz="1700" b="1" i="0">
                <a:solidFill>
                  <a:srgbClr val="1A2733"/>
                </a:solidFill>
                <a:latin typeface="Cambria"/>
              </a:rPr>
              <a:t>Infer</a:t>
            </a:r>
          </a:p>
          <a:p>
            <a:pPr>
              <a:spcAft>
                <a:spcPts val="600"/>
              </a:spcAft>
            </a:pPr>
            <a:r>
              <a:rPr sz="1150" b="0" i="0">
                <a:solidFill>
                  <a:srgbClr val="1A2733"/>
                </a:solidFill>
                <a:latin typeface="Calibri"/>
              </a:rPr>
              <a:t>batched, fp16, threaded I/O</a:t>
            </a:r>
          </a:p>
          <a:p>
            <a:pPr>
              <a:spcAft>
                <a:spcPts val="0"/>
              </a:spcAft>
            </a:pPr>
            <a:r>
              <a:rPr sz="1000" b="0" i="1">
                <a:solidFill>
                  <a:srgbClr val="5A6B7A"/>
                </a:solidFill>
                <a:latin typeface="Calibri"/>
              </a:rPr>
              <a:t>clamped to [0,1] before writing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343400"/>
            <a:ext cx="10908792" cy="1371600"/>
          </a:xfrm>
          <a:prstGeom prst="roundRect">
            <a:avLst>
              <a:gd name="adj" fmla="val 6000"/>
            </a:avLst>
          </a:prstGeom>
          <a:solidFill>
            <a:srgbClr val="0B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46304" bIns="146304"/>
          <a:lstStyle/>
          <a:p>
            <a:pPr algn="ctr">
              <a:spcAft>
                <a:spcPts val="600"/>
              </a:spcAft>
            </a:pPr>
            <a:r>
              <a:rPr sz="1350" b="1" i="0">
                <a:solidFill>
                  <a:srgbClr val="00B4D8"/>
                </a:solidFill>
                <a:latin typeface="Cambria"/>
              </a:rPr>
              <a:t>Scale-agnostic by construction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D5E2EC"/>
                </a:solidFill>
                <a:latin typeface="Calibri"/>
              </a:rPr>
              <a:t>The network is fully convolutional with no fixed-size assumption, so the same weights handle 128→256 and 256→512. The brief states test data may contain either. Verified end-to-end: a 256×256 input emits 512×512 with no shape assertion.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382512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1">
                <a:solidFill>
                  <a:srgbClr val="5A6B7A"/>
                </a:solidFill>
                <a:latin typeface="Calibri"/>
              </a:rPr>
              <a:t>python inference.py --input_dir &lt;dir&gt; --output_dir &lt;dir&gt;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 i="0">
                <a:solidFill>
                  <a:srgbClr val="1A2733"/>
                </a:solidFill>
                <a:latin typeface="Cambria"/>
              </a:rPr>
              <a:t>Synthetic degradation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70432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A6B7A"/>
                </a:solidFill>
                <a:latin typeface="Calibri"/>
              </a:rPr>
              <a:t>Sampled from the measured distribution, then deliberately widened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525780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46304" bIns="146304"/>
          <a:lstStyle/>
          <a:p>
            <a:pPr algn="ctr">
              <a:spcAft>
                <a:spcPts val="800"/>
              </a:spcAft>
            </a:pPr>
            <a:r>
              <a:rPr sz="1400" b="1" i="0">
                <a:solidFill>
                  <a:srgbClr val="1A2733"/>
                </a:solidFill>
                <a:latin typeface="Cambria"/>
              </a:rPr>
              <a:t>How parameters are sampled</a:t>
            </a:r>
          </a:p>
          <a:p>
            <a:pPr>
              <a:spcAft>
                <a:spcPts val="700"/>
              </a:spcAft>
            </a:pPr>
            <a:r>
              <a:rPr sz="1150" b="0" i="0">
                <a:solidFill>
                  <a:srgbClr val="1A2733"/>
                </a:solidFill>
                <a:latin typeface="Calibri"/>
              </a:rPr>
              <a:t>(L, σ) are drawn from empirical quantile tables fitted on all 3200 real pairs, then multiplied by a random widening factor so the tails extend past what was observed. This reproduces the true distribution by construction rather than assuming a parametric form.</a:t>
            </a:r>
          </a:p>
          <a:p>
            <a:pPr>
              <a:spcAft>
                <a:spcPts val="600"/>
              </a:spcAft>
            </a:pPr>
            <a:r>
              <a:rPr sz="1100" b="0" i="1">
                <a:solidFill>
                  <a:srgbClr val="5A6B7A"/>
                </a:solidFill>
                <a:latin typeface="Calibri"/>
              </a:rPr>
              <a:t>Kernel ∈ {area, bilinear, bicubic, gaussian+stride};  order randomised across the three degradations.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737360"/>
            <a:ext cx="5669280" cy="365760"/>
          </a:xfrm>
          <a:prstGeom prst="rect">
            <a:avLst/>
          </a:prstGeom>
          <a:solidFill>
            <a:srgbClr val="0B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327648" y="1787651"/>
            <a:ext cx="154533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Source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19288" y="1787651"/>
            <a:ext cx="905255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residual std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70848" y="1787651"/>
            <a:ext cx="76809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skew r/d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85248" y="1787651"/>
            <a:ext cx="186537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per-image p10 / p50 / p90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103120"/>
            <a:ext cx="5669280" cy="365760"/>
          </a:xfrm>
          <a:prstGeom prst="rect">
            <a:avLst/>
          </a:prstGeom>
          <a:solidFill>
            <a:srgbClr val="EF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327648" y="2153412"/>
            <a:ext cx="154533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A2733"/>
                </a:solidFill>
                <a:latin typeface="Calibri"/>
              </a:rPr>
              <a:t>real pairs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19288" y="2153412"/>
            <a:ext cx="905255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A2733"/>
                </a:solidFill>
                <a:latin typeface="Calibri"/>
              </a:rPr>
              <a:t>0.0852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70848" y="2153412"/>
            <a:ext cx="76809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A2733"/>
                </a:solidFill>
                <a:latin typeface="Calibri"/>
              </a:rPr>
              <a:t>+0.367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85248" y="2153412"/>
            <a:ext cx="186537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A2733"/>
                </a:solidFill>
                <a:latin typeface="Calibri"/>
              </a:rPr>
              <a:t>0.045 / 0.079 / 0.114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2519172"/>
            <a:ext cx="154533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A2733"/>
                </a:solidFill>
                <a:latin typeface="Calibri"/>
              </a:rPr>
              <a:t>synthetic (exact)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19288" y="2519172"/>
            <a:ext cx="905255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A2733"/>
                </a:solidFill>
                <a:latin typeface="Calibri"/>
              </a:rPr>
              <a:t>0.0945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0848" y="2519172"/>
            <a:ext cx="76809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A2733"/>
                </a:solidFill>
                <a:latin typeface="Calibri"/>
              </a:rPr>
              <a:t>+0.299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85248" y="2519172"/>
            <a:ext cx="186537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A2733"/>
                </a:solidFill>
                <a:latin typeface="Calibri"/>
              </a:rPr>
              <a:t>0.050 / 0.081 / 0.135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2834640"/>
            <a:ext cx="5669280" cy="365760"/>
          </a:xfrm>
          <a:prstGeom prst="rect">
            <a:avLst/>
          </a:prstGeom>
          <a:solidFill>
            <a:srgbClr val="EF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327648" y="2884932"/>
            <a:ext cx="154533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A2733"/>
                </a:solidFill>
                <a:latin typeface="Calibri"/>
              </a:rPr>
              <a:t>synthetic (widened)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19288" y="2884932"/>
            <a:ext cx="905255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A2733"/>
                </a:solidFill>
                <a:latin typeface="Calibri"/>
              </a:rPr>
              <a:t>0.1010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70848" y="2884932"/>
            <a:ext cx="76809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A2733"/>
                </a:solidFill>
                <a:latin typeface="Calibri"/>
              </a:rPr>
              <a:t>+0.483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85248" y="2884932"/>
            <a:ext cx="186537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A2733"/>
                </a:solidFill>
                <a:latin typeface="Calibri"/>
              </a:rPr>
              <a:t>0.045 / 0.086 / 0.145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401568"/>
            <a:ext cx="5669280" cy="658368"/>
          </a:xfrm>
          <a:prstGeom prst="roundRect">
            <a:avLst>
              <a:gd name="adj" fmla="val 6000"/>
            </a:avLst>
          </a:prstGeom>
          <a:solidFill>
            <a:srgbClr val="E8F7FB"/>
          </a:solidFill>
          <a:ln w="9525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46304" bIns="146304"/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1A2733"/>
                </a:solidFill>
                <a:latin typeface="Calibri"/>
              </a:rPr>
              <a:t>Synthetic pairs match real statistics closely; the widened variant extends both tails for OOD robustness.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297680"/>
            <a:ext cx="10908792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46304" bIns="146304"/>
          <a:lstStyle/>
          <a:p>
            <a:pPr algn="ctr">
              <a:spcAft>
                <a:spcPts val="700"/>
              </a:spcAft>
            </a:pPr>
            <a:r>
              <a:rPr sz="1350" b="1" i="0">
                <a:solidFill>
                  <a:srgbClr val="1A2733"/>
                </a:solidFill>
                <a:latin typeface="Cambria"/>
              </a:rPr>
              <a:t>Training mix and augmentation</a:t>
            </a:r>
          </a:p>
          <a:p>
            <a:pPr>
              <a:spcAft>
                <a:spcPts val="700"/>
              </a:spcAft>
            </a:pPr>
            <a:r>
              <a:rPr sz="1150">
                <a:solidFill>
                  <a:srgbClr val="1A2733"/>
                </a:solidFill>
                <a:latin typeface="Calibri"/>
              </a:rPr>
              <a:t>•   50% real provided pairs (anchors the exact test distribution) / 50% synthetic (widens it)</a:t>
            </a:r>
          </a:p>
          <a:p>
            <a:pPr>
              <a:spcAft>
                <a:spcPts val="700"/>
              </a:spcAft>
            </a:pPr>
            <a:r>
              <a:rPr sz="1150">
                <a:solidFill>
                  <a:srgbClr val="1A2733"/>
                </a:solidFill>
                <a:latin typeface="Calibri"/>
              </a:rPr>
              <a:t>•   64×64 LR crops → 128×128 GT, random flips and 90° rotations; crop-based training is what makes the model scale-agnostic</a:t>
            </a:r>
          </a:p>
          <a:p>
            <a:pPr>
              <a:spcAft>
                <a:spcPts val="700"/>
              </a:spcAft>
            </a:pPr>
            <a:r>
              <a:rPr sz="1150">
                <a:solidFill>
                  <a:srgbClr val="1A2733"/>
                </a:solidFill>
                <a:latin typeface="Calibri"/>
              </a:rPr>
              <a:t>•   Synthetic LR is never clipped — the real data is not either, and clipping would create a train/test mismatch on exactly those values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382512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1">
                <a:solidFill>
                  <a:srgbClr val="5A6B7A"/>
                </a:solidFill>
                <a:latin typeface="Calibri"/>
              </a:rPr>
              <a:t>src/degrade.py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 i="0">
                <a:solidFill>
                  <a:srgbClr val="1A2733"/>
                </a:solidFill>
                <a:latin typeface="Cambria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70432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A6B7A"/>
                </a:solidFill>
                <a:latin typeface="Calibri"/>
              </a:rPr>
              <a:t>NAFNet-style body at LR resolution, single PixelShuffle ×2 head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5029200" cy="3108960"/>
          </a:xfrm>
          <a:prstGeom prst="roundRect">
            <a:avLst>
              <a:gd name="adj" fmla="val 6000"/>
            </a:avLst>
          </a:prstGeom>
          <a:solidFill>
            <a:srgbClr val="0B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46304" bIns="146304"/>
          <a:lstStyle/>
          <a:p>
            <a:pPr algn="ctr">
              <a:spcAft>
                <a:spcPts val="800"/>
              </a:spcAft>
            </a:pPr>
            <a:r>
              <a:rPr sz="1200" b="1" i="0">
                <a:solidFill>
                  <a:srgbClr val="00B4D8"/>
                </a:solidFill>
                <a:latin typeface="Calibri"/>
              </a:rPr>
              <a:t>input  (B, 1, H, W)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D5E2EC"/>
                </a:solidFill>
                <a:latin typeface="Calibri"/>
              </a:rPr>
              <a:t>conv3×3  →  width 64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D5E2EC"/>
                </a:solidFill>
                <a:latin typeface="Calibri"/>
              </a:rPr>
              <a:t>16 × NAFBlock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D5E2EC"/>
                </a:solidFill>
                <a:latin typeface="Calibri"/>
              </a:rPr>
              <a:t>   depthwise conv + SimpleGate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D5E2EC"/>
                </a:solidFill>
                <a:latin typeface="Calibri"/>
              </a:rPr>
              <a:t>   simplified channel attention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D5E2EC"/>
                </a:solidFill>
                <a:latin typeface="Calibri"/>
              </a:rPr>
              <a:t>conv3×3  (long residual)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D5E2EC"/>
                </a:solidFill>
                <a:latin typeface="Calibri"/>
              </a:rPr>
              <a:t>conv3×3  →  PixelShuffle(2)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D5E2EC"/>
                </a:solidFill>
                <a:latin typeface="Calibri"/>
              </a:rPr>
              <a:t>conv3×3  →  1 channel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D5E2EC"/>
                </a:solidFill>
                <a:latin typeface="Calibri"/>
              </a:rPr>
              <a:t>+ bilinear(input, ×2)</a:t>
            </a:r>
          </a:p>
          <a:p>
            <a:pPr>
              <a:spcAft>
                <a:spcPts val="0"/>
              </a:spcAft>
            </a:pPr>
            <a:r>
              <a:rPr sz="1200" b="1" i="0">
                <a:solidFill>
                  <a:srgbClr val="00B4D8"/>
                </a:solidFill>
                <a:latin typeface="Calibri"/>
              </a:rPr>
              <a:t>output  (B, 1, 2H, 2W)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89320" y="1737360"/>
            <a:ext cx="5559552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46304" bIns="146304"/>
          <a:lstStyle/>
          <a:p>
            <a:pPr algn="ctr">
              <a:spcAft>
                <a:spcPts val="800"/>
              </a:spcAft>
            </a:pPr>
            <a:r>
              <a:rPr sz="1400" b="1" i="0">
                <a:solidFill>
                  <a:srgbClr val="1A2733"/>
                </a:solidFill>
                <a:latin typeface="Cambria"/>
              </a:rPr>
              <a:t>Design rationale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1A2733"/>
                </a:solidFill>
                <a:latin typeface="Calibri"/>
              </a:rPr>
              <a:t>•   Body runs at LR resolution and upsamples once at the end — ~4× cheaper than a U-Net at output resolution, and throughput is scored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1A2733"/>
                </a:solidFill>
                <a:latin typeface="Calibri"/>
              </a:rPr>
              <a:t>•   NAF blocks reach near-transformer quality with pure convolution; SwinIR/Restormer gain little at 128×128 tiles and cost real H100 time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1A2733"/>
                </a:solidFill>
                <a:latin typeface="Calibri"/>
              </a:rPr>
              <a:t>•   No BatchNorm anywhere — channel-wise LayerNorm only, so the evaluator's batch size cannot change our outputs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1A2733"/>
                </a:solidFill>
                <a:latin typeface="Calibri"/>
              </a:rPr>
              <a:t>•   Per-block residual scales initialise at zero: a 16-block stack starts as identity and trains stably from scratch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1A2733"/>
                </a:solidFill>
                <a:latin typeface="Calibri"/>
              </a:rPr>
              <a:t>•   No GAN — the brief asks for restoration without hallucinating 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120640"/>
            <a:ext cx="237744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2600" b="1" i="0">
                <a:solidFill>
                  <a:srgbClr val="00B4D8"/>
                </a:solidFill>
                <a:latin typeface="Cambria"/>
              </a:rPr>
              <a:t>0.68 M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5A6B7A"/>
                </a:solidFill>
                <a:latin typeface="Calibri"/>
              </a:rPr>
              <a:t>parameters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5120640"/>
            <a:ext cx="292608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2600" b="1" i="0">
                <a:solidFill>
                  <a:srgbClr val="00B4D8"/>
                </a:solidFill>
                <a:latin typeface="Cambria"/>
              </a:rPr>
              <a:t>4.8e−07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5A6B7A"/>
                </a:solidFill>
                <a:latin typeface="Calibri"/>
              </a:rPr>
              <a:t>max |batch8 − batch1|</a:t>
            </a:r>
          </a:p>
          <a:p>
            <a:pPr>
              <a:spcAft>
                <a:spcPts val="0"/>
              </a:spcAft>
            </a:pPr>
            <a:r>
              <a:rPr sz="950" b="0" i="1">
                <a:solidFill>
                  <a:srgbClr val="5A6B7A"/>
                </a:solidFill>
                <a:latin typeface="Calibri"/>
              </a:rPr>
              <a:t>batch-size invariance verified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5120640"/>
            <a:ext cx="457200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2200" b="1" i="0">
                <a:solidFill>
                  <a:srgbClr val="00B4D8"/>
                </a:solidFill>
                <a:latin typeface="Cambria"/>
              </a:rPr>
              <a:t>128→256 and 256→512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5A6B7A"/>
                </a:solidFill>
                <a:latin typeface="Calibri"/>
              </a:rPr>
              <a:t>same weights, no reconfiguration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382512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1">
                <a:solidFill>
                  <a:srgbClr val="5A6B7A"/>
                </a:solidFill>
                <a:latin typeface="Calibri"/>
              </a:rPr>
              <a:t>src/model.py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 i="0">
                <a:solidFill>
                  <a:srgbClr val="1A2733"/>
                </a:solidFill>
                <a:latin typeface="Cambria"/>
              </a:rPr>
              <a:t>Loss and training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70432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A6B7A"/>
                </a:solidFill>
                <a:latin typeface="Calibri"/>
              </a:rPr>
              <a:t>Pixel fidelity, structure and perception — weighted for what is scored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5257800" cy="2514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46304" bIns="146304"/>
          <a:lstStyle/>
          <a:p>
            <a:pPr algn="ctr">
              <a:spcAft>
                <a:spcPts val="800"/>
              </a:spcAft>
            </a:pPr>
            <a:r>
              <a:rPr sz="1400" b="1" i="0">
                <a:solidFill>
                  <a:srgbClr val="1A2733"/>
                </a:solidFill>
                <a:latin typeface="Cambria"/>
              </a:rPr>
              <a:t>Objective</a:t>
            </a:r>
          </a:p>
          <a:p>
            <a:pPr>
              <a:spcAft>
                <a:spcPts val="400"/>
              </a:spcAft>
            </a:pPr>
            <a:r>
              <a:rPr sz="1350" b="1" i="0">
                <a:solidFill>
                  <a:srgbClr val="00B4D8"/>
                </a:solidFill>
                <a:latin typeface="Calibri"/>
              </a:rPr>
              <a:t>L  =  Charbonnier  +  0.15 · (1 − SSIM)</a:t>
            </a:r>
          </a:p>
          <a:p>
            <a:pPr>
              <a:spcAft>
                <a:spcPts val="900"/>
              </a:spcAft>
            </a:pPr>
            <a:r>
              <a:rPr sz="1200" b="0" i="0">
                <a:solidFill>
                  <a:srgbClr val="5A6B7A"/>
                </a:solidFill>
                <a:latin typeface="Calibri"/>
              </a:rPr>
              <a:t>+  0.05 · LPIPS   for the final 10% of steps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1A2733"/>
                </a:solidFill>
                <a:latin typeface="Calibri"/>
              </a:rPr>
              <a:t>•   Charbonnier over L2: better PSNR/SSIM trade-off and robust to the heavy-tailed speckle outliers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1A2733"/>
                </a:solidFill>
                <a:latin typeface="Calibri"/>
              </a:rPr>
              <a:t>•   Single-scale SSIM, not MS-SSIM — MS-SSIM needs ≥161 px and the GT crops are 128×128; it would fail or silently degrade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1A2733"/>
                </a:solidFill>
                <a:latin typeface="Calibri"/>
              </a:rPr>
              <a:t>•   LPIPS is scored, but VGG every step costs ~30% throughput — a short fine-tune captures most of the benefit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737360"/>
            <a:ext cx="5669280" cy="365760"/>
          </a:xfrm>
          <a:prstGeom prst="rect">
            <a:avLst/>
          </a:prstGeom>
          <a:solidFill>
            <a:srgbClr val="0B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327648" y="1787651"/>
            <a:ext cx="177393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Setting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47888" y="1787651"/>
            <a:ext cx="3602735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Value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2103120"/>
            <a:ext cx="5669280" cy="365760"/>
          </a:xfrm>
          <a:prstGeom prst="rect">
            <a:avLst/>
          </a:prstGeom>
          <a:solidFill>
            <a:srgbClr val="EF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327648" y="2153412"/>
            <a:ext cx="177393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733"/>
                </a:solidFill>
                <a:latin typeface="Calibri"/>
              </a:rPr>
              <a:t>Optimiser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47888" y="2153412"/>
            <a:ext cx="3602735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733"/>
                </a:solidFill>
                <a:latin typeface="Calibri"/>
              </a:rPr>
              <a:t>AdamW, betas (0.9, 0.999), wd 1e-4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2519172"/>
            <a:ext cx="177393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733"/>
                </a:solidFill>
                <a:latin typeface="Calibri"/>
              </a:rPr>
              <a:t>Learning 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47888" y="2519172"/>
            <a:ext cx="3602735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733"/>
                </a:solidFill>
                <a:latin typeface="Calibri"/>
              </a:rPr>
              <a:t>5e-4, 2000-step warmup, cosine to 1e-6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834640"/>
            <a:ext cx="5669280" cy="365760"/>
          </a:xfrm>
          <a:prstGeom prst="rect">
            <a:avLst/>
          </a:prstGeom>
          <a:solidFill>
            <a:srgbClr val="EF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327648" y="2884932"/>
            <a:ext cx="177393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733"/>
                </a:solidFill>
                <a:latin typeface="Calibri"/>
              </a:rPr>
              <a:t>Batch / precision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7888" y="2884932"/>
            <a:ext cx="3602735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733"/>
                </a:solidFill>
                <a:latin typeface="Calibri"/>
              </a:rPr>
              <a:t>32, AMP, channels_last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7648" y="3250692"/>
            <a:ext cx="177393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733"/>
                </a:solidFill>
                <a:latin typeface="Calibri"/>
              </a:rPr>
              <a:t>Stability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3250692"/>
            <a:ext cx="3602735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733"/>
                </a:solidFill>
                <a:latin typeface="Calibri"/>
              </a:rPr>
              <a:t>grad-norm clip 1.0, non-finite loss guard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3566160"/>
            <a:ext cx="5669280" cy="365760"/>
          </a:xfrm>
          <a:prstGeom prst="rect">
            <a:avLst/>
          </a:prstGeom>
          <a:solidFill>
            <a:srgbClr val="EF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327648" y="3616452"/>
            <a:ext cx="177393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733"/>
                </a:solidFill>
                <a:latin typeface="Calibri"/>
              </a:rPr>
              <a:t>Checkpointing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7888" y="3616452"/>
            <a:ext cx="3602735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733"/>
                </a:solidFill>
                <a:latin typeface="Calibri"/>
              </a:rPr>
              <a:t>validate every 5000 steps, keep best by PSNR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572000"/>
            <a:ext cx="10908792" cy="1143000"/>
          </a:xfrm>
          <a:prstGeom prst="roundRect">
            <a:avLst>
              <a:gd name="adj" fmla="val 6000"/>
            </a:avLst>
          </a:prstGeom>
          <a:solidFill>
            <a:srgbClr val="FFF6E3"/>
          </a:solidFill>
          <a:ln w="9525">
            <a:solidFill>
              <a:srgbClr val="FFB70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46304" bIns="146304"/>
          <a:lstStyle/>
          <a:p>
            <a:pPr algn="ctr">
              <a:spcAft>
                <a:spcPts val="500"/>
              </a:spcAft>
            </a:pPr>
            <a:r>
              <a:rPr sz="1300" b="1" i="0">
                <a:solidFill>
                  <a:srgbClr val="1A2733"/>
                </a:solidFill>
                <a:latin typeface="Cambria"/>
              </a:rPr>
              <a:t>Stability incident and fix</a:t>
            </a:r>
          </a:p>
          <a:p>
            <a:pPr>
              <a:spcAft>
                <a:spcPts val="600"/>
              </a:spcAft>
            </a:pPr>
            <a:r>
              <a:rPr sz="1100" b="0" i="0">
                <a:solidFill>
                  <a:srgbClr val="1A2733"/>
                </a:solidFill>
                <a:latin typeface="Calibri"/>
              </a:rPr>
              <a:t>An initial run diverged to a non-finite loss exactly as warmup ended and the learning rate peaked. Root cause: AdamW was configured with betas=(0.9, 0.9); the fast second-moment decay made the per-parameter step size volatile enough that one gradient spike at peak LR corrupted the weights irrecoverably. Fixed to (0.9, 0.999), lowered the peak LR to 5e-4, and added a guard that skips non-finite batches and aborts after 20 consecutive ones rather than silently consuming the budget.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382512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1">
                <a:solidFill>
                  <a:srgbClr val="5A6B7A"/>
                </a:solidFill>
                <a:latin typeface="Calibri"/>
              </a:rPr>
              <a:t>src/losses.py, train.py, configs/base.yaml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 i="0">
                <a:solidFill>
                  <a:srgbClr val="1A2733"/>
                </a:solidFill>
                <a:latin typeface="Cambria"/>
              </a:rPr>
              <a:t>Experiment tracking and validation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70432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A6B7A"/>
                </a:solidFill>
                <a:latin typeface="Calibri"/>
              </a:rPr>
              <a:t>Reproducibility as a first-class deliverable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5257800" cy="2788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46304" bIns="146304"/>
          <a:lstStyle/>
          <a:p>
            <a:pPr algn="ctr">
              <a:spcAft>
                <a:spcPts val="800"/>
              </a:spcAft>
            </a:pPr>
            <a:r>
              <a:rPr sz="1400" b="1" i="0">
                <a:solidFill>
                  <a:srgbClr val="1A2733"/>
                </a:solidFill>
                <a:latin typeface="Cambria"/>
              </a:rPr>
              <a:t>The validation split is group-aware</a:t>
            </a:r>
          </a:p>
          <a:p>
            <a:pPr>
              <a:spcAft>
                <a:spcPts val="700"/>
              </a:spcAft>
            </a:pPr>
            <a:r>
              <a:rPr sz="1150" b="0" i="0">
                <a:solidFill>
                  <a:srgbClr val="1A2733"/>
                </a:solidFill>
                <a:latin typeface="Calibri"/>
              </a:rPr>
              <a:t>KLA's own slides show sample 000000 → source 0001.png and sample 000500 → source 0186.png: samples are ordered by source image, roughly 2-3 per source.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1A2733"/>
                </a:solidFill>
                <a:latin typeface="Calibri"/>
              </a:rPr>
              <a:t>•   A random per-index split therefore leaks near-duplicate content into training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1A2733"/>
                </a:solidFill>
                <a:latin typeface="Calibri"/>
              </a:rPr>
              <a:t>•   A contiguous tail slice hands validation sources seen nowhere else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1A2733"/>
                </a:solidFill>
                <a:latin typeface="Calibri"/>
              </a:rPr>
              <a:t>•   We hold out 10 evenly-spaced contiguous blocks of 32 — contiguous keeps same-source samples together, spacing covers all content types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1A2733"/>
                </a:solidFill>
                <a:latin typeface="Calibri"/>
              </a:rPr>
              <a:t>•   Split frozen in configs/base.yaml; train ∩ val = ∅ asserted at load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737360"/>
            <a:ext cx="5669280" cy="2788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46304" bIns="146304"/>
          <a:lstStyle/>
          <a:p>
            <a:pPr algn="ctr">
              <a:spcAft>
                <a:spcPts val="800"/>
              </a:spcAft>
            </a:pPr>
            <a:r>
              <a:rPr sz="1400" b="1" i="0">
                <a:solidFill>
                  <a:srgbClr val="1A2733"/>
                </a:solidFill>
                <a:latin typeface="Cambria"/>
              </a:rPr>
              <a:t>What every run records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1A2733"/>
                </a:solidFill>
                <a:latin typeface="Calibri"/>
              </a:rPr>
              <a:t>•   run id, git hash, seed, step, LR, loss, all three metrics, parameter count and the full config as JSON — appended to results/run_log.csv at every validation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1A2733"/>
                </a:solidFill>
                <a:latin typeface="Calibri"/>
              </a:rPr>
              <a:t>•   Seeds fixed for Python, NumPy and Torch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1A2733"/>
                </a:solidFill>
                <a:latin typeface="Calibri"/>
              </a:rPr>
              <a:t>•   Every hyperparameter lives in configs/base.yaml; nothing hard-coded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1A2733"/>
                </a:solidFill>
                <a:latin typeface="Calibri"/>
              </a:rPr>
              <a:t>•   The checkpoint embeds its own model config, so inference rebuilds the architecture without reading any config file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1A2733"/>
                </a:solidFill>
                <a:latin typeface="Calibri"/>
              </a:rPr>
              <a:t>•   Schedule length is calibrated from measured throughput, so cosine reaches its minimum exactly when the budget ends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800600"/>
            <a:ext cx="10908792" cy="914400"/>
          </a:xfrm>
          <a:prstGeom prst="roundRect">
            <a:avLst>
              <a:gd name="adj" fmla="val 6000"/>
            </a:avLst>
          </a:prstGeom>
          <a:solidFill>
            <a:srgbClr val="0B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46304" bIns="146304"/>
          <a:lstStyle/>
          <a:p>
            <a:pPr algn="ctr">
              <a:spcAft>
                <a:spcPts val="500"/>
              </a:spcAft>
            </a:pPr>
            <a:r>
              <a:rPr sz="1250" b="1" i="0">
                <a:solidFill>
                  <a:srgbClr val="00B4D8"/>
                </a:solidFill>
                <a:latin typeface="Cambria"/>
              </a:rPr>
              <a:t>Pre-flight gate</a:t>
            </a:r>
          </a:p>
          <a:p>
            <a:pPr>
              <a:spcAft>
                <a:spcPts val="600"/>
              </a:spcAft>
            </a:pPr>
            <a:r>
              <a:rPr sz="1100" b="0" i="0">
                <a:solidFill>
                  <a:srgbClr val="D5E2EC"/>
                </a:solidFill>
                <a:latin typeface="Calibri"/>
              </a:rPr>
              <a:t>train.py --overfit 2 --steps 2000 must exceed 35 dB on two images before any long run starts, and exits non-zero on failure so it can gate a script. Crop alignment is verified independently: aligned residual 0.078 vs 0.128 for a 1-pixel shifted control.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82512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1">
                <a:solidFill>
                  <a:srgbClr val="5A6B7A"/>
                </a:solidFill>
                <a:latin typeface="Calibri"/>
              </a:rPr>
              <a:t>results/run_log.csv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 i="0">
                <a:solidFill>
                  <a:srgbClr val="1A2733"/>
                </a:solidFill>
                <a:latin typeface="Cambria"/>
              </a:rPr>
              <a:t>Restoration 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70432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A6B7A"/>
                </a:solidFill>
                <a:latin typeface="Calibri"/>
              </a:rPr>
              <a:t>Held-out validation split, 320 images never seen in training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28800"/>
            <a:ext cx="10908792" cy="402336"/>
          </a:xfrm>
          <a:prstGeom prst="rect">
            <a:avLst/>
          </a:prstGeom>
          <a:solidFill>
            <a:srgbClr val="0B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49808" y="1879092"/>
            <a:ext cx="442569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Method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21808" y="1879092"/>
            <a:ext cx="2048255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PSNR (dB)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16367" y="1879092"/>
            <a:ext cx="1956815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SSIM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19487" y="1879092"/>
            <a:ext cx="1892807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LPIPS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231136"/>
            <a:ext cx="10908792" cy="402336"/>
          </a:xfrm>
          <a:prstGeom prst="rect">
            <a:avLst/>
          </a:prstGeom>
          <a:solidFill>
            <a:srgbClr val="EF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49808" y="2281428"/>
            <a:ext cx="442569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A2733"/>
                </a:solidFill>
                <a:latin typeface="Calibri"/>
              </a:rPr>
              <a:t>bicubic upsample (baseline)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21808" y="2281428"/>
            <a:ext cx="2048255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A2733"/>
                </a:solidFill>
                <a:latin typeface="Calibri"/>
              </a:rPr>
              <a:t>22.94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16367" y="2281428"/>
            <a:ext cx="1956815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A2733"/>
                </a:solidFill>
                <a:latin typeface="Calibri"/>
              </a:rPr>
              <a:t>0.5460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19487" y="2281428"/>
            <a:ext cx="1892807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A2733"/>
                </a:solidFill>
                <a:latin typeface="Calibri"/>
              </a:rPr>
              <a:t>pending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2683764"/>
            <a:ext cx="442569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A2733"/>
                </a:solidFill>
                <a:latin typeface="Calibri"/>
              </a:rPr>
              <a:t>perfect denoise + bicubic (ceiling)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21808" y="2683764"/>
            <a:ext cx="2048255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A2733"/>
                </a:solidFill>
                <a:latin typeface="Calibri"/>
              </a:rPr>
              <a:t>32.25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16367" y="2683764"/>
            <a:ext cx="1956815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A2733"/>
                </a:solidFill>
                <a:latin typeface="Calibri"/>
              </a:rPr>
              <a:t>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19487" y="2683764"/>
            <a:ext cx="1892807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A2733"/>
                </a:solidFill>
                <a:latin typeface="Calibri"/>
              </a:rPr>
              <a:t>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035808"/>
            <a:ext cx="10908792" cy="402336"/>
          </a:xfrm>
          <a:prstGeom prst="rect">
            <a:avLst/>
          </a:prstGeom>
          <a:solidFill>
            <a:srgbClr val="EF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49808" y="3086100"/>
            <a:ext cx="442569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0B4D8"/>
                </a:solidFill>
                <a:latin typeface="Calibri"/>
              </a:rPr>
              <a:t>this model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21808" y="3086100"/>
            <a:ext cx="2048255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0B4D8"/>
                </a:solidFill>
                <a:latin typeface="Calibri"/>
              </a:rPr>
              <a:t>27.54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16367" y="3086100"/>
            <a:ext cx="1956815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0B4D8"/>
                </a:solidFill>
                <a:latin typeface="Calibri"/>
              </a:rPr>
              <a:t>0.7594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19487" y="3086100"/>
            <a:ext cx="1892807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0B4D8"/>
                </a:solidFill>
                <a:latin typeface="Calibri"/>
              </a:rPr>
              <a:t>pending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3794760"/>
            <a:ext cx="310896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3000" b="1" i="0">
                <a:solidFill>
                  <a:srgbClr val="00B4D8"/>
                </a:solidFill>
                <a:latin typeface="Cambria"/>
              </a:rPr>
              <a:t>+4.60 dB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5A6B7A"/>
                </a:solidFill>
                <a:latin typeface="Calibri"/>
              </a:rPr>
              <a:t>over the bicubic baseline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23360" y="3794760"/>
            <a:ext cx="365760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3000" b="1" i="0">
                <a:solidFill>
                  <a:srgbClr val="5A6B7A"/>
                </a:solidFill>
                <a:latin typeface="Cambria"/>
              </a:rPr>
              <a:t>OOD probe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5A6B7A"/>
                </a:solidFill>
                <a:latin typeface="Calibri"/>
              </a:rPr>
              <a:t>external images degraded with our engine</a:t>
            </a:r>
          </a:p>
          <a:p>
            <a:pPr>
              <a:spcAft>
                <a:spcPts val="0"/>
              </a:spcAft>
            </a:pPr>
            <a:r>
              <a:rPr sz="950" b="0" i="1">
                <a:solidFill>
                  <a:srgbClr val="5A6B7A"/>
                </a:solidFill>
                <a:latin typeface="Calibri"/>
              </a:rPr>
              <a:t>proxy for the hidden OOD split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892040"/>
            <a:ext cx="10908792" cy="1051560"/>
          </a:xfrm>
          <a:prstGeom prst="roundRect">
            <a:avLst>
              <a:gd name="adj" fmla="val 6000"/>
            </a:avLst>
          </a:prstGeom>
          <a:solidFill>
            <a:srgbClr val="E8F7FB"/>
          </a:solidFill>
          <a:ln w="9525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46304" bIns="146304"/>
          <a:lstStyle/>
          <a:p>
            <a:pPr algn="ctr">
              <a:spcAft>
                <a:spcPts val="500"/>
              </a:spcAft>
            </a:pPr>
            <a:r>
              <a:rPr sz="1250" b="1" i="0">
                <a:solidFill>
                  <a:srgbClr val="1A2733"/>
                </a:solidFill>
                <a:latin typeface="Cambria"/>
              </a:rPr>
              <a:t>Metric conventions — stated because implementations differ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1A2733"/>
                </a:solidFill>
                <a:latin typeface="Calibri"/>
              </a:rPr>
              <a:t>PSNR: data_range=1.0 on the clipped prediction, averaged per image.   SSIM: 11×11 Gaussian window, σ=1.5, data_range=1.0 — equivalent to skimage's gaussian_weights=True; skimage's default 7×7 uniform window yields a different number.   LPIPS: LPIPS-VGG on 3-channel-replicated grayscale, inputs mapped to [−1, 1].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382512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1">
                <a:solidFill>
                  <a:srgbClr val="5A6B7A"/>
                </a:solidFill>
                <a:latin typeface="Calibri"/>
              </a:rPr>
              <a:t>results/metrics.csv  ·  python evaluate.py --weights weights/best.pt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 i="0">
                <a:solidFill>
                  <a:srgbClr val="1A2733"/>
                </a:solidFill>
                <a:latin typeface="Cambria"/>
              </a:rPr>
              <a:t>Throughput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70432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A6B7A"/>
                </a:solidFill>
                <a:latin typeface="Calibri"/>
              </a:rPr>
              <a:t>Scored end-to-end: startup, I/O and pre/post-processing all count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525780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46304" bIns="146304"/>
          <a:lstStyle/>
          <a:p>
            <a:pPr algn="ctr">
              <a:spcAft>
                <a:spcPts val="800"/>
              </a:spcAft>
            </a:pPr>
            <a:r>
              <a:rPr sz="1400" b="1" i="0">
                <a:solidFill>
                  <a:srgbClr val="1A2733"/>
                </a:solidFill>
                <a:latin typeface="Cambria"/>
              </a:rPr>
              <a:t>What we optimised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A2733"/>
                </a:solidFill>
                <a:latin typeface="Calibri"/>
              </a:rPr>
              <a:t>•   Only torch, numpy and argparse imported at module level — no yaml, lpips, skimage or matplotlib, each of which costs startup time for no benefit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A2733"/>
                </a:solidFill>
                <a:latin typeface="Calibri"/>
              </a:rPr>
              <a:t>•   Model config travels inside the checkpoint, so there is no config parse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A2733"/>
                </a:solidFill>
                <a:latin typeface="Calibri"/>
              </a:rPr>
              <a:t>•   Files read and written on a thread pool (npy I/O releases the GIL)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A2733"/>
                </a:solidFill>
                <a:latin typeface="Calibri"/>
              </a:rPr>
              <a:t>•   Inputs grouped by resolution and run in batches under inference_mode, with channels_last, pinned memory, non-blocking transfers and fp16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A2733"/>
                </a:solidFill>
                <a:latin typeface="Calibri"/>
              </a:rPr>
              <a:t>•   torch.compile off by default — 30-60 s of compile will not amortise over a small test set; available behind --compile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A2733"/>
                </a:solidFill>
                <a:latin typeface="Calibri"/>
              </a:rPr>
              <a:t>•   ×8 self-ensemble available behind --tta: ~+0.2 dB for ~8× the runtime, off by default since throughput is scored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737360"/>
            <a:ext cx="566928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46304" bIns="146304"/>
          <a:lstStyle/>
          <a:p>
            <a:pPr algn="ctr">
              <a:spcAft>
                <a:spcPts val="800"/>
              </a:spcAft>
            </a:pPr>
            <a:r>
              <a:rPr sz="1400" b="1" i="0">
                <a:solidFill>
                  <a:srgbClr val="1A2733"/>
                </a:solidFill>
                <a:latin typeface="Cambria"/>
              </a:rPr>
              <a:t>Measured</a:t>
            </a:r>
          </a:p>
          <a:p>
            <a:pPr>
              <a:spcAft>
                <a:spcPts val="200"/>
              </a:spcAft>
            </a:pPr>
            <a:r>
              <a:rPr sz="3000" b="1" i="0">
                <a:solidFill>
                  <a:srgbClr val="00B4D8"/>
                </a:solidFill>
                <a:latin typeface="Cambria"/>
              </a:rPr>
              <a:t>2015.2 ms</a:t>
            </a:r>
          </a:p>
          <a:p>
            <a:pPr>
              <a:spcAft>
                <a:spcPts val="1000"/>
              </a:spcAft>
            </a:pPr>
            <a:r>
              <a:rPr sz="1100" b="0" i="0">
                <a:solidFill>
                  <a:srgbClr val="5A6B7A"/>
                </a:solidFill>
                <a:latin typeface="Calibri"/>
              </a:rPr>
              <a:t>per image, model forward</a:t>
            </a:r>
          </a:p>
          <a:p>
            <a:pPr>
              <a:spcAft>
                <a:spcPts val="1000"/>
              </a:spcAft>
            </a:pPr>
            <a:r>
              <a:rPr sz="1300" b="1" i="0">
                <a:solidFill>
                  <a:srgbClr val="1A2733"/>
                </a:solidFill>
                <a:latin typeface="Calibri"/>
              </a:rPr>
              <a:t>0 images / second</a:t>
            </a:r>
          </a:p>
          <a:p>
            <a:pPr>
              <a:spcAft>
                <a:spcPts val="800"/>
              </a:spcAft>
            </a:pPr>
            <a:r>
              <a:rPr sz="1100" b="0" i="0">
                <a:solidFill>
                  <a:srgbClr val="1A2733"/>
                </a:solidFill>
                <a:latin typeface="Calibri"/>
              </a:rPr>
              <a:t>Full-pipeline wall clock is measured with the benchmark cell in the training notebook: it stages the validation split as loose .npy files and times inference.py from process start to the last file written — the same boundary KLA uses.</a:t>
            </a:r>
          </a:p>
          <a:p>
            <a:pPr>
              <a:spcAft>
                <a:spcPts val="600"/>
              </a:spcAft>
            </a:pPr>
            <a:r>
              <a:rPr sz="1050" b="0" i="1">
                <a:solidFill>
                  <a:srgbClr val="5A6B7A"/>
                </a:solidFill>
                <a:latin typeface="Calibri"/>
              </a:rPr>
              <a:t>Hardware, batch size, driver, torch version and timing method are recorded alongside the number.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82512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1">
                <a:solidFill>
                  <a:srgbClr val="5A6B7A"/>
                </a:solidFill>
                <a:latin typeface="Calibri"/>
              </a:rPr>
              <a:t>time python inference.py --input_dir &lt;dir&gt; --output_dir &lt;dir&gt;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 i="0">
                <a:solidFill>
                  <a:srgbClr val="1A2733"/>
                </a:solidFill>
                <a:latin typeface="Cambria"/>
              </a:rPr>
              <a:t>Visual results and failure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70432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A6B7A"/>
                </a:solidFill>
                <a:latin typeface="Calibri"/>
              </a:rPr>
              <a:t>Best and worst cases from the held-out split</a:t>
            </a:r>
          </a:p>
        </p:txBody>
      </p:sp>
      <p:pic>
        <p:nvPicPr>
          <p:cNvPr id="4" name="Picture 3" descr="qualit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91640"/>
            <a:ext cx="1371600" cy="36576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577840" y="1691640"/>
            <a:ext cx="5973775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46304" bIns="146304"/>
          <a:lstStyle/>
          <a:p>
            <a:pPr algn="ctr">
              <a:spcAft>
                <a:spcPts val="800"/>
              </a:spcAft>
            </a:pPr>
            <a:r>
              <a:rPr sz="1400" b="1" i="0">
                <a:solidFill>
                  <a:srgbClr val="1A2733"/>
                </a:solidFill>
                <a:latin typeface="Cambria"/>
              </a:rPr>
              <a:t>Dominant failure mode</a:t>
            </a:r>
          </a:p>
          <a:p>
            <a:pPr>
              <a:spcAft>
                <a:spcPts val="900"/>
              </a:spcAft>
            </a:pPr>
            <a:r>
              <a:rPr sz="1150" b="0" i="0">
                <a:solidFill>
                  <a:srgbClr val="1A2733"/>
                </a:solidFill>
                <a:latin typeface="Calibri"/>
              </a:rPr>
              <a:t>Heavy speckle (low L) over fine high-frequency texture. Where the noise variance approaches the local signal variance, the model cannot separate texture from speckle and smooths both — the conservative choice, and the right one given the brief asks for restoration without hallucinating structure.</a:t>
            </a:r>
          </a:p>
          <a:p>
            <a:pPr>
              <a:spcAft>
                <a:spcPts val="700"/>
              </a:spcAft>
            </a:pPr>
            <a:r>
              <a:rPr sz="1400" b="1" i="0">
                <a:solidFill>
                  <a:srgbClr val="1A2733"/>
                </a:solidFill>
                <a:latin typeface="Cambria"/>
              </a:rPr>
              <a:t>Limitations</a:t>
            </a:r>
          </a:p>
          <a:p>
            <a:pPr>
              <a:spcAft>
                <a:spcPts val="700"/>
              </a:spcAft>
            </a:pPr>
            <a:r>
              <a:rPr sz="1100">
                <a:solidFill>
                  <a:srgbClr val="1A2733"/>
                </a:solidFill>
                <a:latin typeface="Calibri"/>
              </a:rPr>
              <a:t>•   Trained on the released 256→128 pairs; the 512→256 case is handled by the fully-convolutional design and verified for shape correctness, but has no paired data to validate accuracy against</a:t>
            </a:r>
          </a:p>
          <a:p>
            <a:pPr>
              <a:spcAft>
                <a:spcPts val="700"/>
              </a:spcAft>
            </a:pPr>
            <a:r>
              <a:rPr sz="1100">
                <a:solidFill>
                  <a:srgbClr val="1A2733"/>
                </a:solidFill>
                <a:latin typeface="Calibri"/>
              </a:rPr>
              <a:t>•   The degradation engine assumes only the three named mechanisms</a:t>
            </a:r>
          </a:p>
          <a:p>
            <a:pPr>
              <a:spcAft>
                <a:spcPts val="700"/>
              </a:spcAft>
            </a:pPr>
            <a:r>
              <a:rPr sz="1100">
                <a:solidFill>
                  <a:srgbClr val="1A2733"/>
                </a:solidFill>
                <a:latin typeface="Calibri"/>
              </a:rPr>
              <a:t>•   No GAN or diffusion prior, so genuinely destroyed high-frequency detail is not invented — a deliberate accuracy/realism trade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82512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1">
                <a:solidFill>
                  <a:srgbClr val="5A6B7A"/>
                </a:solidFill>
                <a:latin typeface="Calibri"/>
              </a:rPr>
              <a:t>results/qualitative.png — worst 4 and best 4 by PSNR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 i="0">
                <a:solidFill>
                  <a:srgbClr val="FFFFFF"/>
                </a:solidFill>
                <a:latin typeface="Cambria"/>
              </a:rPr>
              <a:t>Summary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783080"/>
            <a:ext cx="3429000" cy="1828800"/>
          </a:xfrm>
          <a:prstGeom prst="roundRect">
            <a:avLst>
              <a:gd name="adj" fmla="val 6000"/>
            </a:avLst>
          </a:prstGeom>
          <a:solidFill>
            <a:srgbClr val="142A3E"/>
          </a:solidFill>
          <a:ln w="9525">
            <a:solidFill>
              <a:srgbClr val="243E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46304" bIns="146304"/>
          <a:lstStyle/>
          <a:p>
            <a:pPr algn="ctr">
              <a:spcAft>
                <a:spcPts val="700"/>
              </a:spcAft>
            </a:pPr>
            <a:r>
              <a:rPr sz="1400" b="1" i="0">
                <a:solidFill>
                  <a:srgbClr val="00B4D8"/>
                </a:solidFill>
                <a:latin typeface="Cambria"/>
              </a:rPr>
              <a:t>Measured, not assumed</a:t>
            </a:r>
          </a:p>
          <a:p>
            <a:pPr>
              <a:spcAft>
                <a:spcPts val="600"/>
              </a:spcAft>
            </a:pPr>
            <a:r>
              <a:rPr sz="1150" b="0" i="0">
                <a:solidFill>
                  <a:srgbClr val="D5E2EC"/>
                </a:solidFill>
                <a:latin typeface="Calibri"/>
              </a:rPr>
              <a:t>The degradation model was recovered from the data and validated statistically; synthetic pairs reproduce the real distribution.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88536" y="1783080"/>
            <a:ext cx="3429000" cy="1828800"/>
          </a:xfrm>
          <a:prstGeom prst="roundRect">
            <a:avLst>
              <a:gd name="adj" fmla="val 6000"/>
            </a:avLst>
          </a:prstGeom>
          <a:solidFill>
            <a:srgbClr val="142A3E"/>
          </a:solidFill>
          <a:ln w="9525">
            <a:solidFill>
              <a:srgbClr val="243E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46304" bIns="146304"/>
          <a:lstStyle/>
          <a:p>
            <a:pPr algn="ctr">
              <a:spcAft>
                <a:spcPts val="700"/>
              </a:spcAft>
            </a:pPr>
            <a:r>
              <a:rPr sz="1400" b="1" i="0">
                <a:solidFill>
                  <a:srgbClr val="00B4D8"/>
                </a:solidFill>
                <a:latin typeface="Cambria"/>
              </a:rPr>
              <a:t>Efficient by design</a:t>
            </a:r>
          </a:p>
          <a:p>
            <a:pPr>
              <a:spcAft>
                <a:spcPts val="600"/>
              </a:spcAft>
            </a:pPr>
            <a:r>
              <a:rPr sz="1150" b="0" i="0">
                <a:solidFill>
                  <a:srgbClr val="D5E2EC"/>
                </a:solidFill>
                <a:latin typeface="Calibri"/>
              </a:rPr>
              <a:t>0.68 M parameters, body at LR resolution, single upsample — quality without paying H100 throughput for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936992" y="1783080"/>
            <a:ext cx="3429000" cy="1828800"/>
          </a:xfrm>
          <a:prstGeom prst="roundRect">
            <a:avLst>
              <a:gd name="adj" fmla="val 6000"/>
            </a:avLst>
          </a:prstGeom>
          <a:solidFill>
            <a:srgbClr val="142A3E"/>
          </a:solidFill>
          <a:ln w="9525">
            <a:solidFill>
              <a:srgbClr val="243E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46304" bIns="146304"/>
          <a:lstStyle/>
          <a:p>
            <a:pPr algn="ctr">
              <a:spcAft>
                <a:spcPts val="700"/>
              </a:spcAft>
            </a:pPr>
            <a:r>
              <a:rPr sz="1400" b="1" i="0">
                <a:solidFill>
                  <a:srgbClr val="00B4D8"/>
                </a:solidFill>
                <a:latin typeface="Cambria"/>
              </a:rPr>
              <a:t>Reproducible end to end</a:t>
            </a:r>
          </a:p>
          <a:p>
            <a:pPr>
              <a:spcAft>
                <a:spcPts val="600"/>
              </a:spcAft>
            </a:pPr>
            <a:r>
              <a:rPr sz="1150" b="0" i="0">
                <a:solidFill>
                  <a:srgbClr val="D5E2EC"/>
                </a:solidFill>
                <a:latin typeface="Calibri"/>
              </a:rPr>
              <a:t>Config-driven, seeded, logged per validation; inference runs from a clean environment with two directory arguments.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886200"/>
            <a:ext cx="10908792" cy="1234440"/>
          </a:xfrm>
          <a:prstGeom prst="roundRect">
            <a:avLst>
              <a:gd name="adj" fmla="val 6000"/>
            </a:avLst>
          </a:prstGeom>
          <a:solidFill>
            <a:srgbClr val="142A3E"/>
          </a:solidFill>
          <a:ln w="9525">
            <a:solidFill>
              <a:srgbClr val="243E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46304" bIns="146304"/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00B4D8"/>
                </a:solidFill>
                <a:latin typeface="Cambria"/>
              </a:rPr>
              <a:t>External resources and licensing</a:t>
            </a:r>
          </a:p>
          <a:p>
            <a:pPr>
              <a:spcAft>
                <a:spcPts val="600"/>
              </a:spcAft>
            </a:pPr>
            <a:r>
              <a:rPr sz="1100" b="0" i="0">
                <a:solidFill>
                  <a:srgbClr val="D5E2EC"/>
                </a:solidFill>
                <a:latin typeface="Calibri"/>
              </a:rPr>
              <a:t>No external datasets or pretrained weights are used for the restoration model itself — it is trained from scratch on the official KLA data plus synthetic pairs derived from that same data. lpips (BSD-2-Clause) supplies the VGG perceptual loss for the final fine-tune and for reporting; its VGG16 backbone carries ImageNet-pretrained weights shipped with the package. Training degrades gracefully to Charbonnier + SSIM if it is unavailable, and inference.py never imports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440680"/>
            <a:ext cx="1090879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github.com/23f2001033/kla-restore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5A6B7A"/>
                </a:solidFill>
                <a:latin typeface="Calibri"/>
              </a:rPr>
              <a:t>README.md · train.py · inference.py · evaluate.py · analyze_degradation.py · configs/ · src/ · weights/ · results/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